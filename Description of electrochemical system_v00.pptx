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797675" cy="9926638"/>
  <p:embeddedFontLst>
    <p:embeddedFont>
      <p:font typeface="Poppins" panose="00000500000000000000" pitchFamily="2" charset="0"/>
      <p:regular r:id="rId32"/>
      <p:bold r:id="rId33"/>
    </p:embeddedFont>
    <p:embeddedFont>
      <p:font typeface="Poppins Light" panose="00000400000000000000" pitchFamily="2" charset="0"/>
      <p:regular r:id="rId34"/>
    </p:embeddedFont>
    <p:embeddedFont>
      <p:font typeface="Poppins Medium" panose="00000600000000000000" pitchFamily="2" charset="0"/>
      <p:regular r:id="rId35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521415D9-36F7-43E2-AB2F-B90AF26B5E84}">
      <p14:sectionLst xmlns:p14="http://schemas.microsoft.com/office/powerpoint/2010/main">
        <p14:section name="Summary Section" id="{40E32C4C-2D01-49C9-BFF8-A76992EB0B67}">
          <p14:sldIdLst/>
        </p14:section>
        <p14:section name="Section 1" id="{CDBFCC10-DECE-41B8-9CE2-938F4C71CCE9}">
          <p14:sldIdLst>
            <p14:sldId id="256"/>
            <p14:sldId id="284"/>
          </p14:sldIdLst>
        </p14:section>
        <p14:section name="Main reaction" id="{99B9A489-AAA3-4CED-BC2A-DD4BC897C214}">
          <p14:sldIdLst>
            <p14:sldId id="257"/>
          </p14:sldIdLst>
        </p14:section>
        <p14:section name="Input data" id="{D0A4DC0D-14D2-42CF-B1FE-EFBCBDC58C9E}">
          <p14:sldIdLst>
            <p14:sldId id="258"/>
          </p14:sldIdLst>
        </p14:section>
        <p14:section name="Terminology" id="{8182855A-B661-4590-B3D1-08D3A5B75036}">
          <p14:sldIdLst>
            <p14:sldId id="259"/>
          </p14:sldIdLst>
        </p14:section>
        <p14:section name="Voltage/potential of cell/electrode and reaction" id="{6E9C4450-D035-4D7D-AB45-185200DEF12A}">
          <p14:sldIdLst>
            <p14:sldId id="260"/>
          </p14:sldIdLst>
        </p14:section>
        <p14:section name="Step 1: Start of charging" id="{C716CFF9-2F49-4738-87D7-1269E4DF9B9E}">
          <p14:sldIdLst>
            <p14:sldId id="261"/>
          </p14:sldIdLst>
        </p14:section>
        <p14:section name="Step 2: Formation of an electrical double layer (EDL)" id="{E948C720-06BB-4693-9834-49D5D1039882}">
          <p14:sldIdLst>
            <p14:sldId id="262"/>
          </p14:sldIdLst>
        </p14:section>
        <p14:section name="Step 3: Redox reactions. Positive electrode" id="{49989BD7-2C50-49DF-B9E8-F33AC92CE732}">
          <p14:sldIdLst>
            <p14:sldId id="263"/>
          </p14:sldIdLst>
        </p14:section>
        <p14:section name="Step 3: Redox reactions. Positive electrode" id="{DE5F5BC0-B093-45AC-8015-FE1D75F21083}">
          <p14:sldIdLst>
            <p14:sldId id="264"/>
          </p14:sldIdLst>
        </p14:section>
        <p14:section name="Step 3: Redox reactions. Positive electrode" id="{6E3A9DC8-1967-4A86-AAB3-4CBCD1D245C7}">
          <p14:sldIdLst>
            <p14:sldId id="265"/>
          </p14:sldIdLst>
        </p14:section>
        <p14:section name="Step 3: Redox reactions. Positive electrode" id="{438B0ADA-7E7F-48D8-81B0-F0827D3228FC}">
          <p14:sldIdLst>
            <p14:sldId id="266"/>
          </p14:sldIdLst>
        </p14:section>
        <p14:section name="Step 3: Redox reactions. Positive electrode" id="{6CAF9C23-FFA1-4337-A0D7-A1045976022F}">
          <p14:sldIdLst>
            <p14:sldId id="267"/>
          </p14:sldIdLst>
        </p14:section>
        <p14:section name="Step 3: Redox reactions. Negative electrode" id="{0341C199-2642-4037-A6E5-94A0A33AFE42}">
          <p14:sldIdLst>
            <p14:sldId id="268"/>
          </p14:sldIdLst>
        </p14:section>
        <p14:section name="Step 3: Redox reactions. Negative electrode" id="{3E31E7D2-1EE5-4C2D-B966-C22E342D2A47}">
          <p14:sldIdLst>
            <p14:sldId id="269"/>
          </p14:sldIdLst>
        </p14:section>
        <p14:section name="Step 3: Redox reactions. Negative electrode" id="{FC7BBD48-8234-4EFA-B115-094B07112011}">
          <p14:sldIdLst>
            <p14:sldId id="270"/>
          </p14:sldIdLst>
        </p14:section>
        <p14:section name="Step 4: Fully charged zinc-bromine battery" id="{7BE7EDDD-AF81-422E-B813-A01C98CE4973}">
          <p14:sldIdLst>
            <p14:sldId id="271"/>
          </p14:sldIdLst>
        </p14:section>
        <p14:section name="Exceeding 1.83 V during charging will trigger parasitic reactions" id="{F7AB9177-2A93-4DF4-8DC0-12888018CA0F}">
          <p14:sldIdLst>
            <p14:sldId id="272"/>
          </p14:sldIdLst>
        </p14:section>
        <p14:section name="Exceeding 1.83 V during charging will trigger parasitic reactions" id="{64F1A4B6-E4C2-4C77-BA5D-06B05F732B30}">
          <p14:sldIdLst>
            <p14:sldId id="273"/>
          </p14:sldIdLst>
        </p14:section>
        <p14:section name="Final charging sequence (by potentials)" id="{4CCFFD4F-0933-481C-87F6-CC2C6CA4E0F7}">
          <p14:sldIdLst>
            <p14:sldId id="274"/>
          </p14:sldIdLst>
        </p14:section>
        <p14:section name="Calculation of parameters of zinc-bromine system in “battery mode”" id="{6BF81DD2-33EB-421A-B6BE-8DAF3E40A41B}">
          <p14:sldIdLst>
            <p14:sldId id="275"/>
          </p14:sldIdLst>
        </p14:section>
        <p14:section name="BM_Version 1. Qualitative calculation." id="{0DCFE1B5-B19C-43B3-9667-02297E78607F}">
          <p14:sldIdLst>
            <p14:sldId id="276"/>
          </p14:sldIdLst>
        </p14:section>
        <p14:section name="BM_Version 2. Concentration impact." id="{E3D69399-9056-4E95-BDBB-0C442A50A62E}">
          <p14:sldIdLst>
            <p14:sldId id="277"/>
          </p14:sldIdLst>
        </p14:section>
        <p14:section name="BM_Version 2. Concentration impact.Summary table." id="{F3046BE6-5244-4E89-A000-777AB8F91622}">
          <p14:sldIdLst>
            <p14:sldId id="278"/>
          </p14:sldIdLst>
        </p14:section>
        <p14:section name="BM_Version 3. Impact of electrode surface area." id="{FA634947-7B7B-403F-A39B-F4C003FE3086}">
          <p14:sldIdLst>
            <p14:sldId id="279"/>
          </p14:sldIdLst>
        </p14:section>
        <p14:section name="BM_Version 3. Impact of electrode surface area.Summary table." id="{BDE9D322-9471-4E64-8D00-D2BF0BB0C353}">
          <p14:sldIdLst>
            <p14:sldId id="280"/>
          </p14:sldIdLst>
        </p14:section>
        <p14:section name="Electrostatic Control in Zinc-Bromine Systems: Parameter Optimization via Electric Double Layer Effects" id="{7198E019-D1FC-4AF4-B9B2-0DF7E1E86064}">
          <p14:sldIdLst>
            <p14:sldId id="281"/>
          </p14:sldIdLst>
        </p14:section>
        <p14:section name="Electrostatic Control in Zinc-Bromine Systems: Parameter Optimization via Electric Double Layer Effects" id="{A98F3547-19C9-40C8-A094-2DDC0EE5BA23}">
          <p14:sldIdLst>
            <p14:sldId id="282"/>
          </p14:sldIdLst>
        </p14:section>
        <p14:section name="Future work " id="{025B29AA-9E63-4656-83F9-9142F1FE5158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154248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1" y="0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7248492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3850444" y="0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41996563" name="Google Shape;5;n"/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425450" y="1243013"/>
            <a:ext cx="5946775" cy="3346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8387097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195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03343290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1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73782789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60120" name="Google Shape;122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195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2006545133" name="Google Shape;123;p1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25450" y="1243013"/>
            <a:ext cx="5946775" cy="3346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076548" name="Google Shape;128;gc6c52afe12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25450" y="1243013"/>
            <a:ext cx="5946775" cy="3346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7398125" name="Google Shape;129;gc6c52afe12_0_0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194"/>
            <a:ext cx="5438099" cy="3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1356972248" name="Google Shape;130;gc6c52afe12_0_0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28583"/>
            <a:ext cx="2945700" cy="49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FB4392FF-7D73-0586-3626-97AC8AB5DD6E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645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291159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066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7451BA-3D54-34A9-8E18-3047F199B9AF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29281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86891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016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E1BF16-E28D-ED02-41C4-DE2373679B29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710593" name="Google Shape;128;gc6c52afe12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25450" y="1243013"/>
            <a:ext cx="5946775" cy="3346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3855458" name="Google Shape;129;gc6c52afe12_0_0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195"/>
            <a:ext cx="5438100" cy="3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1006131559" name="Google Shape;130;gc6c52afe12_0_0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28584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21442" name="Google Shape;128;gc6c52afe12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25450" y="1243013"/>
            <a:ext cx="5946775" cy="3346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8945771" name="Google Shape;129;gc6c52afe12_0_0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194"/>
            <a:ext cx="5438099" cy="3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574854319" name="Google Shape;130;gc6c52afe12_0_0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28583"/>
            <a:ext cx="2945700" cy="49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BC00F86A-64DF-BAA7-126D-7758A7770BAE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517113" name="Google Shape;128;gc6c52afe12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25450" y="1243013"/>
            <a:ext cx="5946775" cy="3346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969434" name="Google Shape;129;gc6c52afe12_0_0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194"/>
            <a:ext cx="5438099" cy="3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264548072" name="Google Shape;130;gc6c52afe12_0_0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28583"/>
            <a:ext cx="2945700" cy="49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7A3287FD-E1A8-9680-3B71-C4C80DCC4AD0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5589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697027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356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4A57C9-B7C0-9B7F-02C1-DB6ADD192045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2826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25817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411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B3BAB2-5F7B-4E9F-D8FF-CB7FE9F086A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31599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0801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102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1E189-BE1C-4EF4-BACE-78D3E3C5140C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95034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60914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855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846DE8-CBAB-7184-9FAF-FCD59AE06428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71959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84546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5885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FC2A8F-924F-08EE-F5E1-6C36CE38D606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1837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36361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2722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47B21-88FE-F001-659A-5BAA88E61938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15499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29443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871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6E54EA-D19B-9F96-03A2-41C09AFD56E4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34389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69574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91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581F03-0B77-952A-874C-ADB4F144E2BE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268935" name="Google Shape;128;gc6c52afe12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25450" y="1243013"/>
            <a:ext cx="5946775" cy="3346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2348113" name="Google Shape;129;gc6c52afe12_0_0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194"/>
            <a:ext cx="5438099" cy="3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1185778304" name="Google Shape;130;gc6c52afe12_0_0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28583"/>
            <a:ext cx="2945700" cy="49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A14A3A99-9B34-D33D-D838-843401756F49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917187" name="Google Shape;128;gc6c52afe12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25450" y="1243013"/>
            <a:ext cx="5946775" cy="3346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9914353" name="Google Shape;129;gc6c52afe12_0_0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192"/>
            <a:ext cx="5438098" cy="3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1151339292" name="Google Shape;130;gc6c52afe12_0_0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28582"/>
            <a:ext cx="2945700" cy="497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9B00AAE0-6C1E-CEAF-D81F-9933AC7E4B4F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780825" name="Google Shape;128;gc6c52afe12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25450" y="1243013"/>
            <a:ext cx="5946775" cy="3346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226736" name="Google Shape;129;gc6c52afe12_0_0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192"/>
            <a:ext cx="5438098" cy="3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194103829" name="Google Shape;130;gc6c52afe12_0_0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28582"/>
            <a:ext cx="2945700" cy="497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4E83203E-A759-C2C9-9AB1-21305EBF6B97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27211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6735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8518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A7B85-023B-6275-FA51-6B863F8DFA4E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93267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73560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015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75CDE8-E559-B946-AE90-8E0F9B61C8C2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79435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023381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447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0B63EC-476C-0AD7-6107-8D799767CBF8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40499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31366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359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0BDFB-88CA-98E1-7732-36E672FC8F2F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06798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8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674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6A15F6-D260-C2DF-24BA-F4F1EE84FDEA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0116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22296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571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932980-5FE2-8ED8-F961-04F2A6D07055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10055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92915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662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C67EEA-5E55-7307-7761-68DFC6F10790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46646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340120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560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778993-BF30-91E0-E771-2B12CB4B4615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2628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24536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755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83C772-B5E5-9369-9330-C7549D29E7BC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30201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67362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1F62B1-E14C-8683-BEDE-9B2A69B1214B}" type="slidenum">
              <a:rPr/>
              <a:t>29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matchingName="Cover 02" userDrawn="1">
  <p:cSld name="Cover 02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0479179" name="Google Shape;17;p10" descr="A picture containing drawing&#10;&#10;Description automatically generated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21558" y="18359"/>
            <a:ext cx="4190089" cy="1549042"/>
          </a:xfrm>
          <a:prstGeom prst="rect">
            <a:avLst/>
          </a:prstGeom>
          <a:noFill/>
          <a:ln>
            <a:noFill/>
          </a:ln>
        </p:spPr>
      </p:pic>
      <p:sp>
        <p:nvSpPr>
          <p:cNvPr id="1968773593" name="Google Shape;18;p10"/>
          <p:cNvSpPr txBox="1">
            <a:spLocks noGrp="1"/>
          </p:cNvSpPr>
          <p:nvPr>
            <p:ph type="body" idx="1"/>
          </p:nvPr>
        </p:nvSpPr>
        <p:spPr bwMode="auto">
          <a:xfrm>
            <a:off x="365124" y="4135530"/>
            <a:ext cx="3598863" cy="59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Poppins Medium"/>
                <a:ea typeface="Poppins Medium"/>
                <a:cs typeface="Poppins Medium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0732069" name="Google Shape;19;p10"/>
          <p:cNvSpPr txBox="1">
            <a:spLocks noGrp="1"/>
          </p:cNvSpPr>
          <p:nvPr>
            <p:ph type="body" idx="2"/>
          </p:nvPr>
        </p:nvSpPr>
        <p:spPr bwMode="auto">
          <a:xfrm>
            <a:off x="365125" y="4730077"/>
            <a:ext cx="3598863" cy="320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4709411" name="Google Shape;20;p10"/>
          <p:cNvSpPr txBox="1">
            <a:spLocks noGrp="1"/>
          </p:cNvSpPr>
          <p:nvPr>
            <p:ph type="body" idx="3"/>
          </p:nvPr>
        </p:nvSpPr>
        <p:spPr bwMode="auto">
          <a:xfrm>
            <a:off x="365124" y="5432981"/>
            <a:ext cx="35988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5831238" name="Google Shape;21;p10"/>
          <p:cNvSpPr txBox="1">
            <a:spLocks noGrp="1"/>
          </p:cNvSpPr>
          <p:nvPr>
            <p:ph type="body" idx="4"/>
          </p:nvPr>
        </p:nvSpPr>
        <p:spPr bwMode="auto">
          <a:xfrm>
            <a:off x="365125" y="5811609"/>
            <a:ext cx="359886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85547273" name="Google Shape;22;p10"/>
          <p:cNvSpPr txBox="1">
            <a:spLocks noGrp="1"/>
          </p:cNvSpPr>
          <p:nvPr>
            <p:ph type="body" idx="5"/>
          </p:nvPr>
        </p:nvSpPr>
        <p:spPr bwMode="auto">
          <a:xfrm>
            <a:off x="365123" y="3811029"/>
            <a:ext cx="3598863" cy="32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39123051" name="Google Shape;23;p10"/>
          <p:cNvSpPr txBox="1">
            <a:spLocks noGrp="1"/>
          </p:cNvSpPr>
          <p:nvPr>
            <p:ph type="sldNum" idx="12"/>
          </p:nvPr>
        </p:nvSpPr>
        <p:spPr bwMode="auto">
          <a:xfrm>
            <a:off x="76202" y="6586050"/>
            <a:ext cx="442666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6956293" name="Google Shape;24;p10"/>
          <p:cNvSpPr txBox="1">
            <a:spLocks noGrp="1"/>
          </p:cNvSpPr>
          <p:nvPr>
            <p:ph type="dt" idx="10"/>
          </p:nvPr>
        </p:nvSpPr>
        <p:spPr bwMode="auto">
          <a:xfrm>
            <a:off x="3552505" y="6586050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2475184" name="Google Shape;25;p10"/>
          <p:cNvSpPr txBox="1">
            <a:spLocks noGrp="1"/>
          </p:cNvSpPr>
          <p:nvPr>
            <p:ph type="ftr" idx="11"/>
          </p:nvPr>
        </p:nvSpPr>
        <p:spPr bwMode="auto">
          <a:xfrm>
            <a:off x="518868" y="6586051"/>
            <a:ext cx="303363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Content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037575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319334" y="365126"/>
            <a:ext cx="10515600" cy="50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84917783" name="Google Shape;28;p11"/>
          <p:cNvSpPr txBox="1">
            <a:spLocks noGrp="1"/>
          </p:cNvSpPr>
          <p:nvPr>
            <p:ph type="body" idx="1"/>
          </p:nvPr>
        </p:nvSpPr>
        <p:spPr bwMode="auto">
          <a:xfrm>
            <a:off x="319334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845152617" name="Google Shape;29;p11"/>
          <p:cNvCxnSpPr/>
          <p:nvPr/>
        </p:nvCxnSpPr>
        <p:spPr bwMode="auto">
          <a:xfrm>
            <a:off x="319334" y="869856"/>
            <a:ext cx="5949621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9481804" name="Google Shape;30;p11"/>
          <p:cNvSpPr txBox="1">
            <a:spLocks noGrp="1"/>
          </p:cNvSpPr>
          <p:nvPr>
            <p:ph type="sldNum" idx="12"/>
          </p:nvPr>
        </p:nvSpPr>
        <p:spPr bwMode="auto">
          <a:xfrm>
            <a:off x="76201" y="6492874"/>
            <a:ext cx="822959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9021004" name="Google Shape;31;p11"/>
          <p:cNvSpPr txBox="1">
            <a:spLocks noGrp="1"/>
          </p:cNvSpPr>
          <p:nvPr>
            <p:ph type="dt" idx="10"/>
          </p:nvPr>
        </p:nvSpPr>
        <p:spPr bwMode="auto">
          <a:xfrm>
            <a:off x="10011974" y="6586049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4993952" name="Google Shape;32;p11"/>
          <p:cNvSpPr txBox="1">
            <a:spLocks noGrp="1"/>
          </p:cNvSpPr>
          <p:nvPr>
            <p:ph type="ftr" idx="11"/>
          </p:nvPr>
        </p:nvSpPr>
        <p:spPr bwMode="auto">
          <a:xfrm>
            <a:off x="1131932" y="6584263"/>
            <a:ext cx="434407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06853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4" y="365126"/>
            <a:ext cx="10515600" cy="50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305488332" name="Google Shape;35;p13"/>
          <p:cNvCxnSpPr/>
          <p:nvPr/>
        </p:nvCxnSpPr>
        <p:spPr bwMode="auto">
          <a:xfrm>
            <a:off x="319334" y="869856"/>
            <a:ext cx="5949621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3429844" name="Google Shape;36;p13"/>
          <p:cNvSpPr txBox="1">
            <a:spLocks noGrp="1"/>
          </p:cNvSpPr>
          <p:nvPr>
            <p:ph type="dt" idx="10"/>
          </p:nvPr>
        </p:nvSpPr>
        <p:spPr bwMode="auto">
          <a:xfrm>
            <a:off x="10011974" y="6586049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5240199" name="Google Shape;37;p13"/>
          <p:cNvSpPr txBox="1">
            <a:spLocks noGrp="1"/>
          </p:cNvSpPr>
          <p:nvPr>
            <p:ph type="ftr" idx="11"/>
          </p:nvPr>
        </p:nvSpPr>
        <p:spPr bwMode="auto">
          <a:xfrm>
            <a:off x="1131932" y="6584263"/>
            <a:ext cx="434407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89393382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201" y="6492874"/>
            <a:ext cx="822959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wo Content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821726" name="Google Shape;40;p12"/>
          <p:cNvSpPr txBox="1">
            <a:spLocks noGrp="1"/>
          </p:cNvSpPr>
          <p:nvPr>
            <p:ph type="title"/>
          </p:nvPr>
        </p:nvSpPr>
        <p:spPr bwMode="auto">
          <a:xfrm>
            <a:off x="319334" y="365126"/>
            <a:ext cx="10515600" cy="50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6989240" name="Google Shape;41;p12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9777393" name="Google Shape;42;p12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303333089" name="Google Shape;43;p12"/>
          <p:cNvCxnSpPr/>
          <p:nvPr/>
        </p:nvCxnSpPr>
        <p:spPr bwMode="auto">
          <a:xfrm>
            <a:off x="319334" y="869856"/>
            <a:ext cx="5949621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0612025" name="Google Shape;44;p12"/>
          <p:cNvSpPr txBox="1">
            <a:spLocks noGrp="1"/>
          </p:cNvSpPr>
          <p:nvPr>
            <p:ph type="dt" idx="10"/>
          </p:nvPr>
        </p:nvSpPr>
        <p:spPr bwMode="auto">
          <a:xfrm>
            <a:off x="10011974" y="6586049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4189610" name="Google Shape;45;p12"/>
          <p:cNvSpPr txBox="1">
            <a:spLocks noGrp="1"/>
          </p:cNvSpPr>
          <p:nvPr>
            <p:ph type="ftr" idx="11"/>
          </p:nvPr>
        </p:nvSpPr>
        <p:spPr bwMode="auto">
          <a:xfrm>
            <a:off x="1131932" y="6584263"/>
            <a:ext cx="434407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7586542" name="Google Shape;46;p12"/>
          <p:cNvSpPr txBox="1">
            <a:spLocks noGrp="1"/>
          </p:cNvSpPr>
          <p:nvPr>
            <p:ph type="sldNum" idx="12"/>
          </p:nvPr>
        </p:nvSpPr>
        <p:spPr bwMode="auto">
          <a:xfrm>
            <a:off x="76201" y="6492874"/>
            <a:ext cx="822959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matchingName="Cover 03" userDrawn="1">
  <p:cSld name="Cover 0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1598924" name="Google Shape;48;p14" descr="A picture containing drawing&#10;&#10;Description automatically generated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2712598" y="2178183"/>
            <a:ext cx="6766803" cy="2501632"/>
          </a:xfrm>
          <a:prstGeom prst="rect">
            <a:avLst/>
          </a:prstGeom>
          <a:noFill/>
          <a:ln>
            <a:noFill/>
          </a:ln>
        </p:spPr>
      </p:pic>
      <p:sp>
        <p:nvSpPr>
          <p:cNvPr id="570165918" name="Google Shape;49;p14"/>
          <p:cNvSpPr txBox="1">
            <a:spLocks noGrp="1"/>
          </p:cNvSpPr>
          <p:nvPr>
            <p:ph type="body" idx="1"/>
          </p:nvPr>
        </p:nvSpPr>
        <p:spPr bwMode="auto">
          <a:xfrm>
            <a:off x="365124" y="4135530"/>
            <a:ext cx="3598863" cy="59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Poppins Medium"/>
                <a:ea typeface="Poppins Medium"/>
                <a:cs typeface="Poppins Medium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3576342" name="Google Shape;50;p14"/>
          <p:cNvSpPr txBox="1">
            <a:spLocks noGrp="1"/>
          </p:cNvSpPr>
          <p:nvPr>
            <p:ph type="body" idx="2"/>
          </p:nvPr>
        </p:nvSpPr>
        <p:spPr bwMode="auto">
          <a:xfrm>
            <a:off x="365125" y="4730077"/>
            <a:ext cx="3598863" cy="320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4300974" name="Google Shape;51;p14"/>
          <p:cNvSpPr txBox="1">
            <a:spLocks noGrp="1"/>
          </p:cNvSpPr>
          <p:nvPr>
            <p:ph type="body" idx="3"/>
          </p:nvPr>
        </p:nvSpPr>
        <p:spPr bwMode="auto">
          <a:xfrm>
            <a:off x="365124" y="5432981"/>
            <a:ext cx="35988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94912246" name="Google Shape;52;p14"/>
          <p:cNvSpPr txBox="1">
            <a:spLocks noGrp="1"/>
          </p:cNvSpPr>
          <p:nvPr>
            <p:ph type="body" idx="4"/>
          </p:nvPr>
        </p:nvSpPr>
        <p:spPr bwMode="auto">
          <a:xfrm>
            <a:off x="365125" y="5811609"/>
            <a:ext cx="359886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1746500" name="Google Shape;53;p14"/>
          <p:cNvSpPr txBox="1">
            <a:spLocks noGrp="1"/>
          </p:cNvSpPr>
          <p:nvPr>
            <p:ph type="body" idx="5"/>
          </p:nvPr>
        </p:nvSpPr>
        <p:spPr bwMode="auto">
          <a:xfrm>
            <a:off x="365123" y="3811029"/>
            <a:ext cx="3598863" cy="32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1437139" name="Google Shape;54;p14"/>
          <p:cNvSpPr txBox="1">
            <a:spLocks noGrp="1"/>
          </p:cNvSpPr>
          <p:nvPr>
            <p:ph type="sldNum" idx="12"/>
          </p:nvPr>
        </p:nvSpPr>
        <p:spPr bwMode="auto">
          <a:xfrm>
            <a:off x="76202" y="6586050"/>
            <a:ext cx="442666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8493269" name="Google Shape;55;p14"/>
          <p:cNvSpPr txBox="1">
            <a:spLocks noGrp="1"/>
          </p:cNvSpPr>
          <p:nvPr>
            <p:ph type="dt" idx="10"/>
          </p:nvPr>
        </p:nvSpPr>
        <p:spPr bwMode="auto">
          <a:xfrm>
            <a:off x="3552505" y="6586050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61550308" name="Google Shape;56;p14"/>
          <p:cNvSpPr txBox="1">
            <a:spLocks noGrp="1"/>
          </p:cNvSpPr>
          <p:nvPr>
            <p:ph type="ftr" idx="11"/>
          </p:nvPr>
        </p:nvSpPr>
        <p:spPr bwMode="auto">
          <a:xfrm>
            <a:off x="518868" y="6586051"/>
            <a:ext cx="303363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matchingName="Cover 01" userDrawn="1">
  <p:cSld name="Cover 0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582921" name="Google Shape;58;p15" descr="A picture containing drawing&#10;&#10;Description automatically generated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44078" y="196957"/>
            <a:ext cx="5169093" cy="1910972"/>
          </a:xfrm>
          <a:prstGeom prst="rect">
            <a:avLst/>
          </a:prstGeom>
          <a:noFill/>
          <a:ln>
            <a:noFill/>
          </a:ln>
        </p:spPr>
      </p:pic>
      <p:sp>
        <p:nvSpPr>
          <p:cNvPr id="312511271" name="Google Shape;59;p15"/>
          <p:cNvSpPr txBox="1">
            <a:spLocks noGrp="1"/>
          </p:cNvSpPr>
          <p:nvPr>
            <p:ph type="body" idx="1"/>
          </p:nvPr>
        </p:nvSpPr>
        <p:spPr bwMode="auto">
          <a:xfrm>
            <a:off x="365124" y="2513934"/>
            <a:ext cx="3598863" cy="59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Poppins Medium"/>
                <a:ea typeface="Poppins Medium"/>
                <a:cs typeface="Poppins Medium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518289" name="Google Shape;60;p15"/>
          <p:cNvSpPr txBox="1">
            <a:spLocks noGrp="1"/>
          </p:cNvSpPr>
          <p:nvPr>
            <p:ph type="body" idx="2"/>
          </p:nvPr>
        </p:nvSpPr>
        <p:spPr bwMode="auto">
          <a:xfrm>
            <a:off x="365125" y="3108481"/>
            <a:ext cx="3598863" cy="320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2106224" name="Google Shape;61;p15"/>
          <p:cNvSpPr txBox="1">
            <a:spLocks noGrp="1"/>
          </p:cNvSpPr>
          <p:nvPr>
            <p:ph type="body" idx="3"/>
          </p:nvPr>
        </p:nvSpPr>
        <p:spPr bwMode="auto">
          <a:xfrm>
            <a:off x="365124" y="3811385"/>
            <a:ext cx="35988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8893719" name="Google Shape;62;p15"/>
          <p:cNvSpPr txBox="1">
            <a:spLocks noGrp="1"/>
          </p:cNvSpPr>
          <p:nvPr>
            <p:ph type="body" idx="4"/>
          </p:nvPr>
        </p:nvSpPr>
        <p:spPr bwMode="auto">
          <a:xfrm>
            <a:off x="365125" y="4190013"/>
            <a:ext cx="359886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13287224" name="Google Shape;63;p15"/>
          <p:cNvSpPr txBox="1">
            <a:spLocks noGrp="1"/>
          </p:cNvSpPr>
          <p:nvPr>
            <p:ph type="body" idx="5"/>
          </p:nvPr>
        </p:nvSpPr>
        <p:spPr bwMode="auto">
          <a:xfrm>
            <a:off x="365123" y="2189433"/>
            <a:ext cx="3598863" cy="32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158538" name="Google Shape;64;p15"/>
          <p:cNvSpPr txBox="1">
            <a:spLocks noGrp="1"/>
          </p:cNvSpPr>
          <p:nvPr>
            <p:ph type="sldNum" idx="12"/>
          </p:nvPr>
        </p:nvSpPr>
        <p:spPr bwMode="auto">
          <a:xfrm>
            <a:off x="76202" y="6586050"/>
            <a:ext cx="442666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6192807" name="Google Shape;65;p15"/>
          <p:cNvSpPr txBox="1">
            <a:spLocks noGrp="1"/>
          </p:cNvSpPr>
          <p:nvPr>
            <p:ph type="dt" idx="10"/>
          </p:nvPr>
        </p:nvSpPr>
        <p:spPr bwMode="auto">
          <a:xfrm>
            <a:off x="3552505" y="6586050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1720707" name="Google Shape;66;p15"/>
          <p:cNvSpPr txBox="1">
            <a:spLocks noGrp="1"/>
          </p:cNvSpPr>
          <p:nvPr>
            <p:ph type="ftr" idx="11"/>
          </p:nvPr>
        </p:nvSpPr>
        <p:spPr bwMode="auto">
          <a:xfrm>
            <a:off x="518868" y="6586051"/>
            <a:ext cx="303363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125276" name="Google Shape;68;p16"/>
          <p:cNvSpPr txBox="1">
            <a:spLocks noGrp="1"/>
          </p:cNvSpPr>
          <p:nvPr>
            <p:ph type="subTitle" idx="1"/>
          </p:nvPr>
        </p:nvSpPr>
        <p:spPr bwMode="auto">
          <a:xfrm>
            <a:off x="319334" y="3602038"/>
            <a:ext cx="9144000" cy="863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1">
                <a:latin typeface="Poppins Light"/>
                <a:ea typeface="Poppins Light"/>
                <a:cs typeface="Poppins Ligh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343744858" name="Google Shape;69;p16"/>
          <p:cNvSpPr txBox="1">
            <a:spLocks noGrp="1"/>
          </p:cNvSpPr>
          <p:nvPr>
            <p:ph type="title"/>
          </p:nvPr>
        </p:nvSpPr>
        <p:spPr bwMode="auto">
          <a:xfrm>
            <a:off x="319334" y="3068602"/>
            <a:ext cx="10515600" cy="53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553473912" name="Google Shape;70;p16"/>
          <p:cNvCxnSpPr/>
          <p:nvPr/>
        </p:nvCxnSpPr>
        <p:spPr bwMode="auto">
          <a:xfrm>
            <a:off x="319334" y="3602038"/>
            <a:ext cx="5949621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8207219" name="Google Shape;71;p16"/>
          <p:cNvSpPr txBox="1">
            <a:spLocks noGrp="1"/>
          </p:cNvSpPr>
          <p:nvPr>
            <p:ph type="sldNum" idx="12"/>
          </p:nvPr>
        </p:nvSpPr>
        <p:spPr bwMode="auto">
          <a:xfrm>
            <a:off x="76202" y="6586050"/>
            <a:ext cx="442666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3078808" name="Google Shape;72;p16"/>
          <p:cNvSpPr txBox="1">
            <a:spLocks noGrp="1"/>
          </p:cNvSpPr>
          <p:nvPr>
            <p:ph type="dt" idx="10"/>
          </p:nvPr>
        </p:nvSpPr>
        <p:spPr bwMode="auto">
          <a:xfrm>
            <a:off x="3552505" y="6586050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5226633" name="Google Shape;73;p16"/>
          <p:cNvSpPr txBox="1">
            <a:spLocks noGrp="1"/>
          </p:cNvSpPr>
          <p:nvPr>
            <p:ph type="ftr" idx="11"/>
          </p:nvPr>
        </p:nvSpPr>
        <p:spPr bwMode="auto">
          <a:xfrm>
            <a:off x="518868" y="6586051"/>
            <a:ext cx="303363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Header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986126" name="Google Shape;75;p17"/>
          <p:cNvSpPr txBox="1">
            <a:spLocks noGrp="1"/>
          </p:cNvSpPr>
          <p:nvPr>
            <p:ph type="title"/>
          </p:nvPr>
        </p:nvSpPr>
        <p:spPr bwMode="auto">
          <a:xfrm>
            <a:off x="319334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Medium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383025" name="Google Shape;76;p17"/>
          <p:cNvSpPr txBox="1">
            <a:spLocks noGrp="1"/>
          </p:cNvSpPr>
          <p:nvPr>
            <p:ph type="body" idx="1"/>
          </p:nvPr>
        </p:nvSpPr>
        <p:spPr bwMode="auto">
          <a:xfrm>
            <a:off x="319334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cxnSp>
        <p:nvCxnSpPr>
          <p:cNvPr id="224062288" name="Google Shape;77;p17"/>
          <p:cNvCxnSpPr/>
          <p:nvPr/>
        </p:nvCxnSpPr>
        <p:spPr bwMode="auto">
          <a:xfrm>
            <a:off x="319334" y="4568967"/>
            <a:ext cx="5949621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45615521" name="Google Shape;78;p17"/>
          <p:cNvSpPr txBox="1">
            <a:spLocks noGrp="1"/>
          </p:cNvSpPr>
          <p:nvPr>
            <p:ph type="dt" idx="10"/>
          </p:nvPr>
        </p:nvSpPr>
        <p:spPr bwMode="auto">
          <a:xfrm>
            <a:off x="10011974" y="6586049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9078853" name="Google Shape;79;p17"/>
          <p:cNvSpPr txBox="1">
            <a:spLocks noGrp="1"/>
          </p:cNvSpPr>
          <p:nvPr>
            <p:ph type="ftr" idx="11"/>
          </p:nvPr>
        </p:nvSpPr>
        <p:spPr bwMode="auto">
          <a:xfrm>
            <a:off x="1131932" y="6584263"/>
            <a:ext cx="434407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1974261" name="Google Shape;80;p17"/>
          <p:cNvSpPr txBox="1">
            <a:spLocks noGrp="1"/>
          </p:cNvSpPr>
          <p:nvPr>
            <p:ph type="sldNum" idx="12"/>
          </p:nvPr>
        </p:nvSpPr>
        <p:spPr bwMode="auto">
          <a:xfrm>
            <a:off x="76201" y="6492874"/>
            <a:ext cx="822959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omparison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25505" name="Google Shape;82;p18"/>
          <p:cNvSpPr txBox="1">
            <a:spLocks noGrp="1"/>
          </p:cNvSpPr>
          <p:nvPr>
            <p:ph type="title"/>
          </p:nvPr>
        </p:nvSpPr>
        <p:spPr bwMode="auto">
          <a:xfrm>
            <a:off x="319334" y="365126"/>
            <a:ext cx="10515600" cy="5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9306013" name="Google Shape;83;p18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119137426" name="Google Shape;84;p18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30203890" name="Google Shape;85;p18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79203902" name="Google Shape;86;p18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947238552" name="Google Shape;87;p18"/>
          <p:cNvCxnSpPr/>
          <p:nvPr/>
        </p:nvCxnSpPr>
        <p:spPr bwMode="auto">
          <a:xfrm>
            <a:off x="319334" y="869856"/>
            <a:ext cx="5949621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1182649" name="Google Shape;88;p18"/>
          <p:cNvSpPr txBox="1">
            <a:spLocks noGrp="1"/>
          </p:cNvSpPr>
          <p:nvPr>
            <p:ph type="dt" idx="10"/>
          </p:nvPr>
        </p:nvSpPr>
        <p:spPr bwMode="auto">
          <a:xfrm>
            <a:off x="10011974" y="6586049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67100009" name="Google Shape;89;p18"/>
          <p:cNvSpPr txBox="1">
            <a:spLocks noGrp="1"/>
          </p:cNvSpPr>
          <p:nvPr>
            <p:ph type="ftr" idx="11"/>
          </p:nvPr>
        </p:nvSpPr>
        <p:spPr bwMode="auto">
          <a:xfrm>
            <a:off x="1131932" y="6584263"/>
            <a:ext cx="434407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865985" name="Google Shape;90;p18"/>
          <p:cNvSpPr txBox="1">
            <a:spLocks noGrp="1"/>
          </p:cNvSpPr>
          <p:nvPr>
            <p:ph type="sldNum" idx="12"/>
          </p:nvPr>
        </p:nvSpPr>
        <p:spPr bwMode="auto">
          <a:xfrm>
            <a:off x="76201" y="6492874"/>
            <a:ext cx="822959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ontent with Caption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768808" name="Google Shape;93;p20"/>
          <p:cNvSpPr txBox="1">
            <a:spLocks noGrp="1"/>
          </p:cNvSpPr>
          <p:nvPr>
            <p:ph type="title"/>
          </p:nvPr>
        </p:nvSpPr>
        <p:spPr bwMode="auto">
          <a:xfrm>
            <a:off x="319334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Medium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5033771" name="Google Shape;94;p20"/>
          <p:cNvSpPr txBox="1">
            <a:spLocks noGrp="1"/>
          </p:cNvSpPr>
          <p:nvPr>
            <p:ph type="body" idx="1"/>
          </p:nvPr>
        </p:nvSpPr>
        <p:spPr bwMode="auto">
          <a:xfrm>
            <a:off x="4662734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847548732" name="Google Shape;95;p20"/>
          <p:cNvSpPr txBox="1">
            <a:spLocks noGrp="1"/>
          </p:cNvSpPr>
          <p:nvPr>
            <p:ph type="body" idx="2"/>
          </p:nvPr>
        </p:nvSpPr>
        <p:spPr bwMode="auto">
          <a:xfrm>
            <a:off x="319334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cxnSp>
        <p:nvCxnSpPr>
          <p:cNvPr id="1830622952" name="Google Shape;96;p20"/>
          <p:cNvCxnSpPr/>
          <p:nvPr/>
        </p:nvCxnSpPr>
        <p:spPr bwMode="auto">
          <a:xfrm>
            <a:off x="319334" y="2051132"/>
            <a:ext cx="3070326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4199604" name="Google Shape;97;p20"/>
          <p:cNvSpPr txBox="1">
            <a:spLocks noGrp="1"/>
          </p:cNvSpPr>
          <p:nvPr>
            <p:ph type="sldNum" idx="12"/>
          </p:nvPr>
        </p:nvSpPr>
        <p:spPr bwMode="auto">
          <a:xfrm>
            <a:off x="76201" y="6355508"/>
            <a:ext cx="822959" cy="50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9928310" name="Google Shape;98;p20"/>
          <p:cNvSpPr txBox="1">
            <a:spLocks noGrp="1"/>
          </p:cNvSpPr>
          <p:nvPr>
            <p:ph type="dt" idx="10"/>
          </p:nvPr>
        </p:nvSpPr>
        <p:spPr bwMode="auto">
          <a:xfrm>
            <a:off x="10011974" y="6586049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33918964" name="Google Shape;99;p20"/>
          <p:cNvSpPr txBox="1">
            <a:spLocks noGrp="1"/>
          </p:cNvSpPr>
          <p:nvPr>
            <p:ph type="ftr" idx="11"/>
          </p:nvPr>
        </p:nvSpPr>
        <p:spPr bwMode="auto">
          <a:xfrm>
            <a:off x="1131932" y="6584263"/>
            <a:ext cx="434407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Picture with Caption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629580" name="Google Shape;101;p21"/>
          <p:cNvSpPr txBox="1">
            <a:spLocks noGrp="1"/>
          </p:cNvSpPr>
          <p:nvPr>
            <p:ph type="title"/>
          </p:nvPr>
        </p:nvSpPr>
        <p:spPr bwMode="auto">
          <a:xfrm>
            <a:off x="319334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Medium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7127429" name="Google Shape;102;p21"/>
          <p:cNvSpPr>
            <a:spLocks noGrp="1"/>
          </p:cNvSpPr>
          <p:nvPr>
            <p:ph type="pic" idx="2"/>
          </p:nvPr>
        </p:nvSpPr>
        <p:spPr bwMode="auto">
          <a:xfrm>
            <a:off x="4662734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96702310" name="Google Shape;103;p21"/>
          <p:cNvSpPr txBox="1">
            <a:spLocks noGrp="1"/>
          </p:cNvSpPr>
          <p:nvPr>
            <p:ph type="body" idx="1"/>
          </p:nvPr>
        </p:nvSpPr>
        <p:spPr bwMode="auto">
          <a:xfrm>
            <a:off x="319334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cxnSp>
        <p:nvCxnSpPr>
          <p:cNvPr id="1590530996" name="Google Shape;104;p21"/>
          <p:cNvCxnSpPr/>
          <p:nvPr/>
        </p:nvCxnSpPr>
        <p:spPr bwMode="auto">
          <a:xfrm>
            <a:off x="319334" y="2051132"/>
            <a:ext cx="3070326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5808346" name="Google Shape;105;p21"/>
          <p:cNvSpPr txBox="1">
            <a:spLocks noGrp="1"/>
          </p:cNvSpPr>
          <p:nvPr>
            <p:ph type="dt" idx="10"/>
          </p:nvPr>
        </p:nvSpPr>
        <p:spPr bwMode="auto">
          <a:xfrm>
            <a:off x="10011974" y="6586049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36433852" name="Google Shape;106;p21"/>
          <p:cNvSpPr txBox="1">
            <a:spLocks noGrp="1"/>
          </p:cNvSpPr>
          <p:nvPr>
            <p:ph type="ftr" idx="11"/>
          </p:nvPr>
        </p:nvSpPr>
        <p:spPr bwMode="auto">
          <a:xfrm>
            <a:off x="1131932" y="6584263"/>
            <a:ext cx="434407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54061425" name="Google Shape;107;p21"/>
          <p:cNvSpPr txBox="1">
            <a:spLocks noGrp="1"/>
          </p:cNvSpPr>
          <p:nvPr>
            <p:ph type="sldNum" idx="12"/>
          </p:nvPr>
        </p:nvSpPr>
        <p:spPr bwMode="auto">
          <a:xfrm>
            <a:off x="76201" y="6492874"/>
            <a:ext cx="822959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Vertical Text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683439" name="Google Shape;109;p22"/>
          <p:cNvSpPr txBox="1">
            <a:spLocks noGrp="1"/>
          </p:cNvSpPr>
          <p:nvPr>
            <p:ph type="title"/>
          </p:nvPr>
        </p:nvSpPr>
        <p:spPr bwMode="auto">
          <a:xfrm>
            <a:off x="319334" y="365126"/>
            <a:ext cx="10515600" cy="50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84518979" name="Google Shape;110;p2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401465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887014672" name="Google Shape;111;p22"/>
          <p:cNvCxnSpPr/>
          <p:nvPr/>
        </p:nvCxnSpPr>
        <p:spPr bwMode="auto">
          <a:xfrm>
            <a:off x="319334" y="869856"/>
            <a:ext cx="5949621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27137099" name="Google Shape;112;p22"/>
          <p:cNvSpPr txBox="1">
            <a:spLocks noGrp="1"/>
          </p:cNvSpPr>
          <p:nvPr>
            <p:ph type="dt" idx="10"/>
          </p:nvPr>
        </p:nvSpPr>
        <p:spPr bwMode="auto">
          <a:xfrm>
            <a:off x="10011974" y="6586049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31958962" name="Google Shape;113;p22"/>
          <p:cNvSpPr txBox="1">
            <a:spLocks noGrp="1"/>
          </p:cNvSpPr>
          <p:nvPr>
            <p:ph type="ftr" idx="11"/>
          </p:nvPr>
        </p:nvSpPr>
        <p:spPr bwMode="auto">
          <a:xfrm>
            <a:off x="1131932" y="6584263"/>
            <a:ext cx="434407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83058476" name="Google Shape;114;p22"/>
          <p:cNvSpPr txBox="1">
            <a:spLocks noGrp="1"/>
          </p:cNvSpPr>
          <p:nvPr>
            <p:ph type="sldNum" idx="12"/>
          </p:nvPr>
        </p:nvSpPr>
        <p:spPr bwMode="auto">
          <a:xfrm>
            <a:off x="76201" y="6492874"/>
            <a:ext cx="822959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Vertical Title and Text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69445" name="Google Shape;116;p23"/>
          <p:cNvSpPr txBox="1">
            <a:spLocks noGrp="1"/>
          </p:cNvSpPr>
          <p:nvPr>
            <p:ph type="title"/>
          </p:nvPr>
        </p:nvSpPr>
        <p:spPr bwMode="auto">
          <a:xfrm rot="5400000">
            <a:off x="6614565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3357016" name="Google Shape;117;p23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280565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9239686" name="Google Shape;118;p23"/>
          <p:cNvSpPr txBox="1">
            <a:spLocks noGrp="1"/>
          </p:cNvSpPr>
          <p:nvPr>
            <p:ph type="dt" idx="10"/>
          </p:nvPr>
        </p:nvSpPr>
        <p:spPr bwMode="auto">
          <a:xfrm>
            <a:off x="10011974" y="6586049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15869040" name="Google Shape;119;p23"/>
          <p:cNvSpPr txBox="1">
            <a:spLocks noGrp="1"/>
          </p:cNvSpPr>
          <p:nvPr>
            <p:ph type="ftr" idx="11"/>
          </p:nvPr>
        </p:nvSpPr>
        <p:spPr bwMode="auto">
          <a:xfrm>
            <a:off x="1131932" y="6584263"/>
            <a:ext cx="434407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16306762" name="Google Shape;120;p23"/>
          <p:cNvSpPr txBox="1">
            <a:spLocks noGrp="1"/>
          </p:cNvSpPr>
          <p:nvPr>
            <p:ph type="sldNum" idx="12"/>
          </p:nvPr>
        </p:nvSpPr>
        <p:spPr bwMode="auto">
          <a:xfrm>
            <a:off x="76201" y="6492874"/>
            <a:ext cx="822959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019201" name="Google Shape;10;p9"/>
          <p:cNvSpPr txBox="1">
            <a:spLocks noGrp="1"/>
          </p:cNvSpPr>
          <p:nvPr>
            <p:ph type="title"/>
          </p:nvPr>
        </p:nvSpPr>
        <p:spPr bwMode="auto">
          <a:xfrm>
            <a:off x="319334" y="365126"/>
            <a:ext cx="10515600" cy="50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Medium"/>
              <a:buNone/>
              <a:defRPr sz="32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48617202" name="Google Shape;11;p9"/>
          <p:cNvSpPr txBox="1">
            <a:spLocks noGrp="1"/>
          </p:cNvSpPr>
          <p:nvPr>
            <p:ph type="body" idx="1"/>
          </p:nvPr>
        </p:nvSpPr>
        <p:spPr bwMode="auto">
          <a:xfrm>
            <a:off x="319334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582107517" name="Google Shape;12;p9" descr="A close up of a logo&#10;&#10;Description automatically generated"/>
          <p:cNvPicPr/>
          <p:nvPr/>
        </p:nvPicPr>
        <p:blipFill>
          <a:blip r:embed="rId16">
            <a:alphaModFix/>
          </a:blip>
          <a:stretch/>
        </p:blipFill>
        <p:spPr bwMode="auto">
          <a:xfrm>
            <a:off x="11011078" y="6356350"/>
            <a:ext cx="987649" cy="365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0339339" name="Google Shape;13;p9"/>
          <p:cNvSpPr txBox="1">
            <a:spLocks noGrp="1"/>
          </p:cNvSpPr>
          <p:nvPr>
            <p:ph type="sldNum" idx="12"/>
          </p:nvPr>
        </p:nvSpPr>
        <p:spPr bwMode="auto">
          <a:xfrm>
            <a:off x="76202" y="6586050"/>
            <a:ext cx="442666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8042362" name="Google Shape;14;p9"/>
          <p:cNvSpPr txBox="1">
            <a:spLocks noGrp="1"/>
          </p:cNvSpPr>
          <p:nvPr>
            <p:ph type="dt" idx="10"/>
          </p:nvPr>
        </p:nvSpPr>
        <p:spPr bwMode="auto">
          <a:xfrm>
            <a:off x="3552505" y="6586050"/>
            <a:ext cx="822960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23884947" name="Google Shape;15;p9"/>
          <p:cNvSpPr txBox="1">
            <a:spLocks noGrp="1"/>
          </p:cNvSpPr>
          <p:nvPr>
            <p:ph type="ftr" idx="11"/>
          </p:nvPr>
        </p:nvSpPr>
        <p:spPr bwMode="auto">
          <a:xfrm>
            <a:off x="518868" y="6586051"/>
            <a:ext cx="3033637" cy="2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9" Type="http://schemas.openxmlformats.org/officeDocument/2006/relationships/slide" Target="slide11.xml"/><Relationship Id="rId21" Type="http://schemas.openxmlformats.org/officeDocument/2006/relationships/image" Target="../media/image25.png"/><Relationship Id="rId34" Type="http://schemas.openxmlformats.org/officeDocument/2006/relationships/slide" Target="slide6.xml"/><Relationship Id="rId42" Type="http://schemas.openxmlformats.org/officeDocument/2006/relationships/slide" Target="slide14.xml"/><Relationship Id="rId47" Type="http://schemas.openxmlformats.org/officeDocument/2006/relationships/slide" Target="slide19.xml"/><Relationship Id="rId50" Type="http://schemas.openxmlformats.org/officeDocument/2006/relationships/slide" Target="slide22.xml"/><Relationship Id="rId55" Type="http://schemas.openxmlformats.org/officeDocument/2006/relationships/slide" Target="slide27.xml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9" Type="http://schemas.openxmlformats.org/officeDocument/2006/relationships/image" Target="../media/image33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slide" Target="slide4.xml"/><Relationship Id="rId37" Type="http://schemas.openxmlformats.org/officeDocument/2006/relationships/slide" Target="slide9.xml"/><Relationship Id="rId40" Type="http://schemas.openxmlformats.org/officeDocument/2006/relationships/slide" Target="slide12.xml"/><Relationship Id="rId45" Type="http://schemas.openxmlformats.org/officeDocument/2006/relationships/slide" Target="slide17.xml"/><Relationship Id="rId53" Type="http://schemas.openxmlformats.org/officeDocument/2006/relationships/slide" Target="slide25.xml"/><Relationship Id="rId5" Type="http://schemas.openxmlformats.org/officeDocument/2006/relationships/image" Target="../media/image9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slide" Target="slide1.xml"/><Relationship Id="rId35" Type="http://schemas.openxmlformats.org/officeDocument/2006/relationships/slide" Target="slide7.xml"/><Relationship Id="rId43" Type="http://schemas.openxmlformats.org/officeDocument/2006/relationships/slide" Target="slide15.xml"/><Relationship Id="rId48" Type="http://schemas.openxmlformats.org/officeDocument/2006/relationships/slide" Target="slide20.xml"/><Relationship Id="rId56" Type="http://schemas.openxmlformats.org/officeDocument/2006/relationships/slide" Target="slide28.xml"/><Relationship Id="rId8" Type="http://schemas.openxmlformats.org/officeDocument/2006/relationships/image" Target="../media/image12.png"/><Relationship Id="rId51" Type="http://schemas.openxmlformats.org/officeDocument/2006/relationships/slide" Target="slide23.xml"/><Relationship Id="rId3" Type="http://schemas.openxmlformats.org/officeDocument/2006/relationships/image" Target="../media/image7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slide" Target="slide5.xml"/><Relationship Id="rId38" Type="http://schemas.openxmlformats.org/officeDocument/2006/relationships/slide" Target="slide10.xml"/><Relationship Id="rId46" Type="http://schemas.openxmlformats.org/officeDocument/2006/relationships/slide" Target="slide18.xml"/><Relationship Id="rId20" Type="http://schemas.openxmlformats.org/officeDocument/2006/relationships/image" Target="../media/image24.png"/><Relationship Id="rId41" Type="http://schemas.openxmlformats.org/officeDocument/2006/relationships/slide" Target="slide13.xml"/><Relationship Id="rId54" Type="http://schemas.openxmlformats.org/officeDocument/2006/relationships/slide" Target="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36" Type="http://schemas.openxmlformats.org/officeDocument/2006/relationships/slide" Target="slide8.xml"/><Relationship Id="rId49" Type="http://schemas.openxmlformats.org/officeDocument/2006/relationships/slide" Target="slide21.xml"/><Relationship Id="rId57" Type="http://schemas.openxmlformats.org/officeDocument/2006/relationships/slide" Target="slide29.xml"/><Relationship Id="rId10" Type="http://schemas.openxmlformats.org/officeDocument/2006/relationships/image" Target="../media/image14.png"/><Relationship Id="rId31" Type="http://schemas.openxmlformats.org/officeDocument/2006/relationships/slide" Target="slide3.xml"/><Relationship Id="rId44" Type="http://schemas.openxmlformats.org/officeDocument/2006/relationships/slide" Target="slide16.xml"/><Relationship Id="rId52" Type="http://schemas.openxmlformats.org/officeDocument/2006/relationships/slide" Target="slide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8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55731" name="Google Shape;125;p1"/>
          <p:cNvSpPr txBox="1">
            <a:spLocks noGrp="1"/>
          </p:cNvSpPr>
          <p:nvPr>
            <p:ph type="body" idx="1"/>
          </p:nvPr>
        </p:nvSpPr>
        <p:spPr bwMode="auto">
          <a:xfrm>
            <a:off x="113612" y="3429000"/>
            <a:ext cx="8014387" cy="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</a:rPr>
              <a:t>Description of Zn-Br electrochemical system</a:t>
            </a:r>
            <a:endParaRPr dirty="0"/>
          </a:p>
        </p:txBody>
      </p:sp>
      <p:sp>
        <p:nvSpPr>
          <p:cNvPr id="76249284" name="TextBox 38"/>
          <p:cNvSpPr txBox="1"/>
          <p:nvPr/>
        </p:nvSpPr>
        <p:spPr bwMode="auto">
          <a:xfrm>
            <a:off x="490888" y="4908884"/>
            <a:ext cx="42418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i-FI" sz="1800" b="1" dirty="0">
                <a:latin typeface="Poppins"/>
                <a:cs typeface="Poppins"/>
              </a:rPr>
              <a:t>Prepared by </a:t>
            </a:r>
            <a:endParaRPr dirty="0"/>
          </a:p>
          <a:p>
            <a:pPr>
              <a:defRPr/>
            </a:pPr>
            <a:r>
              <a:rPr lang="fi-FI" sz="1800" dirty="0">
                <a:latin typeface="Poppins"/>
                <a:cs typeface="Poppins"/>
              </a:rPr>
              <a:t>Electrochemical Research Engineer</a:t>
            </a:r>
            <a:endParaRPr dirty="0"/>
          </a:p>
          <a:p>
            <a:pPr>
              <a:defRPr/>
            </a:pPr>
            <a:r>
              <a:rPr lang="fi-FI" sz="1800" dirty="0">
                <a:latin typeface="Poppins"/>
                <a:cs typeface="Poppins"/>
              </a:rPr>
              <a:t>Makhov Dmitrii </a:t>
            </a:r>
            <a:endParaRPr lang="ru-RU" sz="1800" dirty="0">
              <a:cs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6" name="Summary Zoom 5">
                <a:extLst>
                  <a:ext uri="{FF2B5EF4-FFF2-40B4-BE49-F238E27FC236}">
                    <a16:creationId xmlns:a16="http://schemas.microsoft.com/office/drawing/2014/main" id="{0CFF6E01-A909-1C1C-BFC5-522332054E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04976598"/>
                  </p:ext>
                </p:extLst>
              </p:nvPr>
            </p:nvGraphicFramePr>
            <p:xfrm>
              <a:off x="270933" y="1041400"/>
              <a:ext cx="11082867" cy="5096934"/>
            </p:xfrm>
            <a:graphic>
              <a:graphicData uri="http://schemas.microsoft.com/office/powerpoint/2016/summaryzoom">
                <psuz:summaryZm>
                  <psuz:summaryZmObj sectionId="{CDBFCC10-DECE-41B8-9CE2-938F4C71CCE9}">
                    <psuz:zmPr id="{E3B2FC3A-3470-4AB3-BAC9-36415BEF647E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95475" y="132523"/>
                          <a:ext cx="1631017" cy="917447"/>
                        </a:xfrm>
                        <a:prstGeom prst="rect">
                          <a:avLst/>
                        </a:prstGeom>
                      </p166:spPr>
                    </psuz:zmPr>
                  </psuz:summaryZmObj>
                  <psuz:summaryZmObj sectionId="{99B9A489-AAA3-4CED-BC2A-DD4BC897C214}">
                    <psuz:zmPr id="{32B4F000-8904-42AC-827E-2A2C07838C10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187655" y="13252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D0A4DC0D-14D2-42CF-B1FE-EFBCBDC58C9E}">
                    <psuz:zmPr id="{7275494E-612C-464C-A313-79600B601F94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879835" y="13252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182855A-B661-4590-B3D1-08D3A5B75036}">
                    <psuz:zmPr id="{4CC897AC-683D-4F78-AE7C-943C405DE417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572015" y="13252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E9C4450-D035-4D7D-AB45-185200DEF12A}">
                    <psuz:zmPr id="{4D21C85D-CE09-4E0D-AF95-0BAA28C5BE4E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264195" y="13252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C716CFF9-2F49-4738-87D7-1269E4DF9B9E}">
                    <psuz:zmPr id="{74F60535-5A72-447B-A395-732AF0ACA1A4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956375" y="13252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948C720-06BB-4693-9834-49D5D1039882}">
                    <psuz:zmPr id="{42C1EF92-3BE7-40F7-80EB-209AEA1F1233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95475" y="111113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49989BD7-2C50-49DF-B9E8-F33AC92CE732}">
                    <psuz:zmPr id="{4F4CBFD4-8E4B-4218-BD7C-8A3399CBC19D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187655" y="111113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DE5F5BC0-B093-45AC-8015-FE1D75F21083}">
                    <psuz:zmPr id="{3B518C5F-E79A-478E-ACE3-5F416678F496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879835" y="111113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E3A9DC8-1967-4A86-AAB3-4CBCD1D245C7}">
                    <psuz:zmPr id="{6DCA8022-8203-4BB3-8409-3D62FF220D29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572015" y="111113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438B0ADA-7E7F-48D8-81B0-F0827D3228FC}">
                    <psuz:zmPr id="{1E6E93C2-8FF4-4310-A739-79B7F6F23DD7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264195" y="111113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CAF9C23-FFA1-4337-A0D7-A1045976022F}">
                    <psuz:zmPr id="{E1701398-B010-49AB-9667-DE2487FC8C15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956375" y="111113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341C199-2642-4037-A6E5-94A0A33AFE42}">
                    <psuz:zmPr id="{4DE5AD3F-A6F8-48E6-B43E-76BD71D8B2ED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95475" y="208974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3E31E7D2-1EE5-4C2D-B966-C22E342D2A47}">
                    <psuz:zmPr id="{9027B74E-C03F-4BE6-B9E2-BCA548841AAA}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187655" y="208974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C7BBD48-8234-4EFA-B115-094B07112011}">
                    <psuz:zmPr id="{1FC1CB73-A149-426D-853B-86113A0E5EED}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879835" y="208974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7BE7EDDD-AF81-422E-B813-A01C98CE4973}">
                    <psuz:zmPr id="{77F7AB98-3382-43F2-87A0-DD82E99A9A90}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572015" y="208974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7AB9177-2A93-4DF4-8DC0-12888018CA0F}">
                    <psuz:zmPr id="{09A6A9F2-0BE6-4CDE-9638-14A5FE6D6763}" transitionDur="100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264195" y="208974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4F1A4B6-E4C2-4C77-BA5D-06B05F732B30}">
                    <psuz:zmPr id="{9F379160-F979-487C-9A19-EA31746D2DB0}" transitionDur="1000">
                      <p166:blipFill xmlns:p166="http://schemas.microsoft.com/office/powerpoint/2016/6/main">
                        <a:blip r:embed="rId1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956375" y="208974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4CCFFD4F-0933-481C-87F6-CC2C6CA4E0F7}">
                    <psuz:zmPr id="{1FE49EC8-548D-41B9-8EA4-A1C7F5FE539E}" transitionDur="1000">
                      <p166:blipFill xmlns:p166="http://schemas.microsoft.com/office/powerpoint/2016/6/main">
                        <a:blip r:embed="rId2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95475" y="306835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BF81DD2-33EB-421A-B6BE-8DAF3E40A41B}">
                    <psuz:zmPr id="{7230EE03-425C-4EB0-96F7-FABFD95ACF0D}" transitionDur="1000">
                      <p166:blipFill xmlns:p166="http://schemas.microsoft.com/office/powerpoint/2016/6/main">
                        <a:blip r:embed="rId2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187655" y="306835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DCFE1B5-B19C-43B3-9667-02297E78607F}">
                    <psuz:zmPr id="{9A58A5F9-1034-4B08-AE4E-85724AAD822D}" transitionDur="1000">
                      <p166:blipFill xmlns:p166="http://schemas.microsoft.com/office/powerpoint/2016/6/main">
                        <a:blip r:embed="rId2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879835" y="306835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3D69399-9056-4E95-BDBB-0C442A50A62E}">
                    <psuz:zmPr id="{DFB22FD8-D141-43B2-A55E-2B8C34DF1CD0}" transitionDur="1000">
                      <p166:blipFill xmlns:p166="http://schemas.microsoft.com/office/powerpoint/2016/6/main">
                        <a:blip r:embed="rId2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572015" y="306835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3046BE6-5244-4E89-A000-777AB8F91622}">
                    <psuz:zmPr id="{3CE9343F-7036-4FAA-AA16-B24BBEB5DEB1}" transitionDur="1000">
                      <p166:blipFill xmlns:p166="http://schemas.microsoft.com/office/powerpoint/2016/6/main">
                        <a:blip r:embed="rId2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264195" y="306835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A634947-7B7B-403F-A39B-F4C003FE3086}">
                    <psuz:zmPr id="{26203BB3-1BC1-4271-94AB-ED7F0C15B454}" transitionDur="1000">
                      <p166:blipFill xmlns:p166="http://schemas.microsoft.com/office/powerpoint/2016/6/main">
                        <a:blip r:embed="rId2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956375" y="306835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BDE9D322-9471-4E64-8D00-D2BF0BB0C353}">
                    <psuz:zmPr id="{0E464D58-4F3D-45AB-B8DA-238D987CC51F}" transitionDur="1000">
                      <p166:blipFill xmlns:p166="http://schemas.microsoft.com/office/powerpoint/2016/6/main">
                        <a:blip r:embed="rId2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95475" y="404696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7198E019-D1FC-4AF4-B9B2-0DF7E1E86064}">
                    <psuz:zmPr id="{F8941980-EBEA-4F0F-8EDD-E2DEE98B0B8E}" transitionDur="1000">
                      <p166:blipFill xmlns:p166="http://schemas.microsoft.com/office/powerpoint/2016/6/main">
                        <a:blip r:embed="rId2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187655" y="404696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A98F3547-19C9-40C8-A094-2DDC0EE5BA23}">
                    <psuz:zmPr id="{D19DDAB4-30B9-4841-8923-A0BBCB485AC3}" transitionDur="1000">
                      <p166:blipFill xmlns:p166="http://schemas.microsoft.com/office/powerpoint/2016/6/main">
                        <a:blip r:embed="rId2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879835" y="404696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25B29AA-9E63-4656-83F9-9142F1FE5158}">
                    <psuz:zmPr id="{5A75CE57-0E2F-4DB9-936F-FE58700DAB9C}" transitionDur="1000">
                      <p166:blipFill xmlns:p166="http://schemas.microsoft.com/office/powerpoint/2016/6/main">
                        <a:blip r:embed="rId2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572015" y="4046963"/>
                          <a:ext cx="1631017" cy="9174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6" name="Summary Zoom 5">
                <a:extLst>
                  <a:ext uri="{FF2B5EF4-FFF2-40B4-BE49-F238E27FC236}">
                    <a16:creationId xmlns:a16="http://schemas.microsoft.com/office/drawing/2014/main" id="{0CFF6E01-A909-1C1C-BFC5-522332054E89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270933" y="1041400"/>
                <a:ext cx="11082867" cy="5096934"/>
                <a:chOff x="270933" y="1041400"/>
                <a:chExt cx="11082867" cy="5096934"/>
              </a:xfrm>
            </p:grpSpPr>
            <p:pic>
              <p:nvPicPr>
                <p:cNvPr id="8" name="Picture 8">
                  <a:hlinkClick r:id="rId3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766408" y="1173923"/>
                  <a:ext cx="1631017" cy="917447"/>
                </a:xfrm>
                <a:prstGeom prst="rect">
                  <a:avLst/>
                </a:prstGeom>
              </p:spPr>
            </p:pic>
            <p:pic>
              <p:nvPicPr>
                <p:cNvPr id="9" name="Picture 9">
                  <a:hlinkClick r:id="rId3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58588" y="117392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Picture 10">
                  <a:hlinkClick r:id="rId3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150768" y="117392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Picture 11">
                  <a:hlinkClick r:id="rId3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42948" y="117392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2" name="Picture 12">
                  <a:hlinkClick r:id="rId3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35128" y="117392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3" name="Picture 13">
                  <a:hlinkClick r:id="rId3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27308" y="117392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4" name="Picture 14">
                  <a:hlinkClick r:id="rId3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6408" y="215253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5" name="Picture 15">
                  <a:hlinkClick r:id="rId3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58588" y="215253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6" name="Picture 16">
                  <a:hlinkClick r:id="rId3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50768" y="215253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7" name="Picture 17">
                  <a:hlinkClick r:id="rId3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42948" y="215253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8" name="Picture 18">
                  <a:hlinkClick r:id="rId4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35128" y="215253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9" name="Picture 19">
                  <a:hlinkClick r:id="rId4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27308" y="215253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0" name="Picture 20">
                  <a:hlinkClick r:id="rId4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6408" y="313114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1" name="Picture 21">
                  <a:hlinkClick r:id="rId4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58588" y="313114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2" name="Picture 22">
                  <a:hlinkClick r:id="rId4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50768" y="313114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3" name="Picture 23">
                  <a:hlinkClick r:id="rId4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42948" y="313114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4" name="Picture 24">
                  <a:hlinkClick r:id="rId4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535128" y="313114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5" name="Picture 25">
                  <a:hlinkClick r:id="rId4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27308" y="313114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6" name="Picture 26">
                  <a:hlinkClick r:id="rId4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6408" y="410975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7" name="Picture 27">
                  <a:hlinkClick r:id="rId4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58588" y="410975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8" name="Picture 28">
                  <a:hlinkClick r:id="rId5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50768" y="410975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9" name="Picture 29">
                  <a:hlinkClick r:id="rId5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42948" y="410975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30" name="Picture 30">
                  <a:hlinkClick r:id="rId5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535128" y="410975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31" name="Picture 31">
                  <a:hlinkClick r:id="rId5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27308" y="410975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32" name="Picture 32">
                  <a:hlinkClick r:id="rId5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6408" y="508836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33" name="Picture 33">
                  <a:hlinkClick r:id="rId5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58588" y="508836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34" name="Picture 34">
                  <a:hlinkClick r:id="rId5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150768" y="508836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35" name="Picture 35">
                  <a:hlinkClick r:id="rId5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42948" y="5088363"/>
                  <a:ext cx="1631017" cy="9174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  <p:sp>
        <p:nvSpPr>
          <p:cNvPr id="7" name="Google Shape;27;p11">
            <a:extLst>
              <a:ext uri="{FF2B5EF4-FFF2-40B4-BE49-F238E27FC236}">
                <a16:creationId xmlns:a16="http://schemas.microsoft.com/office/drawing/2014/main" id="{5F530BFF-9FE9-FE0E-AF2D-0F50AC92D61C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Contains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8123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442583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Main reaction</a:t>
            </a:r>
            <a:endParaRPr dirty="0"/>
          </a:p>
        </p:txBody>
      </p:sp>
      <p:sp>
        <p:nvSpPr>
          <p:cNvPr id="385767910" name="Google Shape;133;gc6c52afe12_0_0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899" cy="36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pPr>
            <a:fld id="{C482B8B5-82D3-2181-AB3F-DB964652A8EE}" type="slidenum">
              <a:rPr lang="en-US" b="1"/>
              <a:t>3</a:t>
            </a:fld>
            <a:endParaRPr b="1"/>
          </a:p>
        </p:txBody>
      </p:sp>
      <p:sp>
        <p:nvSpPr>
          <p:cNvPr id="1706142833" name="Google Shape;134;gc6c52afe12_0_0"/>
          <p:cNvSpPr txBox="1">
            <a:spLocks noGrp="1"/>
          </p:cNvSpPr>
          <p:nvPr>
            <p:ph type="ftr" idx="11"/>
          </p:nvPr>
        </p:nvSpPr>
        <p:spPr bwMode="auto">
          <a:xfrm>
            <a:off x="1131931" y="6584262"/>
            <a:ext cx="4343999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/>
              <a:t>© Geyser Batteries Oy              Confidential: no copy, no distribution</a:t>
            </a:r>
            <a:endParaRPr/>
          </a:p>
        </p:txBody>
      </p:sp>
      <p:pic>
        <p:nvPicPr>
          <p:cNvPr id="815234372" name="Picture 81523437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31930" y="1623933"/>
            <a:ext cx="8534399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80710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319333" y="365125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Input data</a:t>
            </a:r>
            <a:endParaRPr b="0"/>
          </a:p>
        </p:txBody>
      </p:sp>
      <p:sp>
        <p:nvSpPr>
          <p:cNvPr id="1173922437" name="Google Shape;30;p11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9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1B102870-9CCF-EC1A-E5B7-D2C71134B344}" type="slidenum">
              <a:rPr lang="en-US"/>
              <a:t>4</a:t>
            </a:fld>
            <a:endParaRPr/>
          </a:p>
        </p:txBody>
      </p:sp>
      <p:pic>
        <p:nvPicPr>
          <p:cNvPr id="96988153" name="Picture 9698815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23650" y="1023764"/>
            <a:ext cx="6106966" cy="2774324"/>
          </a:xfrm>
          <a:prstGeom prst="rect">
            <a:avLst/>
          </a:prstGeom>
        </p:spPr>
      </p:pic>
      <p:pic>
        <p:nvPicPr>
          <p:cNvPr id="1371851778" name="Picture 137185177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523650" y="3961393"/>
            <a:ext cx="6435889" cy="27997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109623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319333" y="365125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Terminology</a:t>
            </a:r>
            <a:endParaRPr/>
          </a:p>
        </p:txBody>
      </p:sp>
      <p:sp>
        <p:nvSpPr>
          <p:cNvPr id="310847204" name="Google Shape;30;p11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9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DAA0061B-9A97-0573-393F-8213EA906477}" type="slidenum">
              <a:rPr lang="en-US"/>
              <a:t>5</a:t>
            </a:fld>
            <a:endParaRPr/>
          </a:p>
        </p:txBody>
      </p:sp>
      <p:sp>
        <p:nvSpPr>
          <p:cNvPr id="1130096514" name="TextBox 1130096513"/>
          <p:cNvSpPr txBox="1"/>
          <p:nvPr/>
        </p:nvSpPr>
        <p:spPr bwMode="auto">
          <a:xfrm>
            <a:off x="319333" y="1046188"/>
            <a:ext cx="7162451" cy="7187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000" b="1"/>
              <a:t>Anode</a:t>
            </a:r>
            <a:r>
              <a:rPr sz="2000"/>
              <a:t> - positive electrode. Process: oxidation Br⁻ to Br2;</a:t>
            </a:r>
          </a:p>
          <a:p>
            <a:pPr algn="l">
              <a:defRPr/>
            </a:pPr>
            <a:r>
              <a:rPr sz="2000" b="1"/>
              <a:t>Cathode</a:t>
            </a:r>
            <a:r>
              <a:rPr sz="2000"/>
              <a:t> - negative electrode. Process: reduction Zn²⁺.</a:t>
            </a:r>
          </a:p>
        </p:txBody>
      </p:sp>
      <p:pic>
        <p:nvPicPr>
          <p:cNvPr id="1501950591" name="Picture 150195059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71434" y="2186065"/>
            <a:ext cx="10487024" cy="36956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038534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319333" y="365125"/>
            <a:ext cx="10515600" cy="50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Voltage/potential of cell/electrode and reaction</a:t>
            </a:r>
            <a:endParaRPr/>
          </a:p>
        </p:txBody>
      </p:sp>
      <p:sp>
        <p:nvSpPr>
          <p:cNvPr id="579235181" name="Google Shape;133;gc6c52afe12_0_0"/>
          <p:cNvSpPr txBox="1">
            <a:spLocks noGrp="1"/>
          </p:cNvSpPr>
          <p:nvPr>
            <p:ph type="sldNum" idx="12"/>
          </p:nvPr>
        </p:nvSpPr>
        <p:spPr bwMode="auto">
          <a:xfrm>
            <a:off x="76201" y="6492874"/>
            <a:ext cx="82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pPr>
            <a:fld id="{00000000-1234-1234-1234-123412341234}" type="slidenum">
              <a:rPr lang="en-US" b="1"/>
              <a:t>6</a:t>
            </a:fld>
            <a:endParaRPr b="1"/>
          </a:p>
        </p:txBody>
      </p:sp>
      <p:sp>
        <p:nvSpPr>
          <p:cNvPr id="1979273615" name="Google Shape;134;gc6c52afe12_0_0"/>
          <p:cNvSpPr txBox="1">
            <a:spLocks noGrp="1"/>
          </p:cNvSpPr>
          <p:nvPr>
            <p:ph type="ftr" idx="11"/>
          </p:nvPr>
        </p:nvSpPr>
        <p:spPr bwMode="auto">
          <a:xfrm>
            <a:off x="1131932" y="6584263"/>
            <a:ext cx="43440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/>
              <a:t>© Geyser Batteries Oy              Confidential: no copy, no distribution</a:t>
            </a:r>
            <a:endParaRPr/>
          </a:p>
        </p:txBody>
      </p:sp>
      <p:pic>
        <p:nvPicPr>
          <p:cNvPr id="1976488713" name="Picture 197648871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66177" y="1155490"/>
            <a:ext cx="4344729" cy="1702009"/>
          </a:xfrm>
          <a:prstGeom prst="rect">
            <a:avLst/>
          </a:prstGeom>
        </p:spPr>
      </p:pic>
      <p:pic>
        <p:nvPicPr>
          <p:cNvPr id="12148274" name="Picture 1214827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624223" y="2807892"/>
            <a:ext cx="4370161" cy="1358293"/>
          </a:xfrm>
          <a:prstGeom prst="rect">
            <a:avLst/>
          </a:prstGeom>
        </p:spPr>
      </p:pic>
      <p:sp>
        <p:nvSpPr>
          <p:cNvPr id="283947781" name="TextBox 283947780"/>
          <p:cNvSpPr txBox="1"/>
          <p:nvPr/>
        </p:nvSpPr>
        <p:spPr bwMode="auto">
          <a:xfrm>
            <a:off x="6856475" y="2045532"/>
            <a:ext cx="4687666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200" b="1"/>
              <a:t>Rate constants for reactions :</a:t>
            </a:r>
          </a:p>
          <a:p>
            <a:pPr algn="l">
              <a:defRPr/>
            </a:pPr>
            <a:endParaRPr sz="2200" b="1"/>
          </a:p>
        </p:txBody>
      </p:sp>
      <p:sp>
        <p:nvSpPr>
          <p:cNvPr id="976674743" name="TextBox 976674742"/>
          <p:cNvSpPr txBox="1"/>
          <p:nvPr/>
        </p:nvSpPr>
        <p:spPr bwMode="auto">
          <a:xfrm>
            <a:off x="366177" y="2944942"/>
            <a:ext cx="6671210" cy="1615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just">
              <a:defRPr/>
            </a:pPr>
            <a:r>
              <a:rPr sz="2000" b="1"/>
              <a:t>The rate constant shows how fast the reaction occurs, but it does not change the stoichiometry. Since both processes occur simultaneously in the same cell, their stoichiometry remains 1:1 in electrons.</a:t>
            </a:r>
          </a:p>
        </p:txBody>
      </p:sp>
      <p:sp>
        <p:nvSpPr>
          <p:cNvPr id="162877599" name="TextBox 162877598"/>
          <p:cNvSpPr txBox="1"/>
          <p:nvPr/>
        </p:nvSpPr>
        <p:spPr bwMode="auto">
          <a:xfrm>
            <a:off x="506374" y="4905904"/>
            <a:ext cx="11411080" cy="1158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b="1" i="1"/>
              <a:t>Assumption: further in the description of processes, the potentials of reactions at the</a:t>
            </a:r>
          </a:p>
          <a:p>
            <a:pPr algn="ctr">
              <a:defRPr/>
            </a:pPr>
            <a:r>
              <a:rPr b="1" i="1"/>
              <a:t>electrodes and the cell voltage are considered with the assumption that the reactions onto</a:t>
            </a:r>
          </a:p>
          <a:p>
            <a:pPr algn="ctr">
              <a:defRPr/>
            </a:pPr>
            <a:r>
              <a:rPr b="1" i="1"/>
              <a:t>the electrodes proceed at the same rate. Concentration impact and surface are of electrodes</a:t>
            </a:r>
          </a:p>
          <a:p>
            <a:pPr algn="ctr">
              <a:defRPr/>
            </a:pPr>
            <a:r>
              <a:rPr b="1" i="1"/>
              <a:t>impacts are being considered in chapters “2. Concentration impact” and “3. Impact of</a:t>
            </a:r>
          </a:p>
          <a:p>
            <a:pPr algn="ctr">
              <a:defRPr/>
            </a:pPr>
            <a:r>
              <a:rPr b="1" i="1"/>
              <a:t>electrode surface area”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671310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319333" y="365125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Step 1: Start of charging</a:t>
            </a:r>
            <a:endParaRPr/>
          </a:p>
        </p:txBody>
      </p:sp>
      <p:sp>
        <p:nvSpPr>
          <p:cNvPr id="460400705" name="Google Shape;133;gc6c52afe12_0_0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899" cy="36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pPr>
            <a:fld id="{657393C2-666B-D286-893C-969FB434F4BE}" type="slidenum">
              <a:rPr lang="en-US" b="1"/>
              <a:t>7</a:t>
            </a:fld>
            <a:endParaRPr b="1"/>
          </a:p>
        </p:txBody>
      </p:sp>
      <p:sp>
        <p:nvSpPr>
          <p:cNvPr id="1765656094" name="Google Shape;134;gc6c52afe12_0_0"/>
          <p:cNvSpPr txBox="1">
            <a:spLocks noGrp="1"/>
          </p:cNvSpPr>
          <p:nvPr>
            <p:ph type="ftr" idx="11"/>
          </p:nvPr>
        </p:nvSpPr>
        <p:spPr bwMode="auto">
          <a:xfrm>
            <a:off x="1131931" y="6584262"/>
            <a:ext cx="4343999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/>
              <a:t>© Geyser Batteries Oy              Confidential: no copy, no distribution</a:t>
            </a:r>
            <a:endParaRPr/>
          </a:p>
        </p:txBody>
      </p:sp>
      <p:pic>
        <p:nvPicPr>
          <p:cNvPr id="1829958972" name="Picture 1829958971"/>
          <p:cNvPicPr>
            <a:picLocks noChangeAspect="1"/>
          </p:cNvPicPr>
          <p:nvPr/>
        </p:nvPicPr>
        <p:blipFill>
          <a:blip r:embed="rId3"/>
          <a:srcRect b="7465"/>
          <a:stretch/>
        </p:blipFill>
        <p:spPr bwMode="auto">
          <a:xfrm>
            <a:off x="319332" y="1124262"/>
            <a:ext cx="4057650" cy="4512663"/>
          </a:xfrm>
          <a:prstGeom prst="rect">
            <a:avLst/>
          </a:prstGeom>
        </p:spPr>
      </p:pic>
      <p:sp>
        <p:nvSpPr>
          <p:cNvPr id="2130787489" name="TextBox 2130787488"/>
          <p:cNvSpPr txBox="1"/>
          <p:nvPr/>
        </p:nvSpPr>
        <p:spPr bwMode="auto">
          <a:xfrm>
            <a:off x="4717253" y="1124262"/>
            <a:ext cx="7042972" cy="31571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000"/>
              <a:t>Processes in the system:</a:t>
            </a:r>
          </a:p>
          <a:p>
            <a:pPr marL="239821" indent="-239821" algn="l">
              <a:buFont typeface="Arial"/>
              <a:buChar char="•"/>
              <a:defRPr/>
            </a:pPr>
            <a:r>
              <a:rPr sz="2000"/>
              <a:t>The positive electrode is polarized with a negative potential, and the negatively charged Br⁻ and ClO4 – ions (for Type I) begin to move toward the positive electrode.</a:t>
            </a:r>
          </a:p>
          <a:p>
            <a:pPr marL="239821" indent="-239821" algn="l">
              <a:buFont typeface="Arial"/>
              <a:buChar char="•"/>
              <a:defRPr/>
            </a:pPr>
            <a:r>
              <a:rPr sz="2000"/>
              <a:t>The negative electrode is polarized with a negative potential, attracting cations (Zn²⁺, Na⁺, Ca²⁺, H⁺) toward it.</a:t>
            </a:r>
          </a:p>
          <a:p>
            <a:pPr algn="l">
              <a:defRPr/>
            </a:pPr>
            <a:r>
              <a:rPr sz="2000"/>
              <a:t>The concentration of ions near the electrode surface increases and an initial electric double layer</a:t>
            </a:r>
          </a:p>
          <a:p>
            <a:pPr algn="l">
              <a:defRPr/>
            </a:pPr>
            <a:r>
              <a:rPr sz="2000"/>
              <a:t>(EDL) is formed.</a:t>
            </a:r>
          </a:p>
        </p:txBody>
      </p:sp>
      <p:sp>
        <p:nvSpPr>
          <p:cNvPr id="1375246135" name="TextBox 1375246134"/>
          <p:cNvSpPr txBox="1"/>
          <p:nvPr/>
        </p:nvSpPr>
        <p:spPr bwMode="auto">
          <a:xfrm>
            <a:off x="5284314" y="4799096"/>
            <a:ext cx="5103974" cy="132834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000" b="1"/>
              <a:t>Potentials at this stage (vs SHE):</a:t>
            </a:r>
            <a:endParaRPr sz="2000"/>
          </a:p>
          <a:p>
            <a:pPr algn="l">
              <a:defRPr/>
            </a:pPr>
            <a:r>
              <a:rPr sz="2000"/>
              <a:t>Positive electrode (Br⁻): +0.2…+0.3 V</a:t>
            </a:r>
          </a:p>
          <a:p>
            <a:pPr algn="l">
              <a:defRPr/>
            </a:pPr>
            <a:r>
              <a:rPr sz="2000"/>
              <a:t>Negative electrode (Zn²⁺): -0.2…-0.3 V</a:t>
            </a:r>
          </a:p>
          <a:p>
            <a:pPr algn="l">
              <a:defRPr/>
            </a:pPr>
            <a:r>
              <a:rPr sz="2000"/>
              <a:t>Sum voltage : ≈ 0.4... 0.6 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274093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319333" y="365125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Step 2: Formation of an electrical double layer (EDL)</a:t>
            </a:r>
            <a:endParaRPr/>
          </a:p>
        </p:txBody>
      </p:sp>
      <p:sp>
        <p:nvSpPr>
          <p:cNvPr id="785422102" name="Google Shape;133;gc6c52afe12_0_0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899" cy="36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pPr>
            <a:fld id="{EB998671-FA9E-5843-C173-A3445EDD007C}" type="slidenum">
              <a:rPr lang="en-US" b="1"/>
              <a:t>8</a:t>
            </a:fld>
            <a:endParaRPr b="1"/>
          </a:p>
        </p:txBody>
      </p:sp>
      <p:sp>
        <p:nvSpPr>
          <p:cNvPr id="981642326" name="Google Shape;134;gc6c52afe12_0_0"/>
          <p:cNvSpPr txBox="1">
            <a:spLocks noGrp="1"/>
          </p:cNvSpPr>
          <p:nvPr>
            <p:ph type="ftr" idx="11"/>
          </p:nvPr>
        </p:nvSpPr>
        <p:spPr bwMode="auto">
          <a:xfrm>
            <a:off x="1131931" y="6584262"/>
            <a:ext cx="4343999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/>
              <a:t>© Geyser Batteries Oy              Confidential: no copy, no distribution</a:t>
            </a:r>
            <a:endParaRPr/>
          </a:p>
        </p:txBody>
      </p:sp>
      <p:pic>
        <p:nvPicPr>
          <p:cNvPr id="685474462" name="Picture 685474461"/>
          <p:cNvPicPr>
            <a:picLocks noChangeAspect="1"/>
          </p:cNvPicPr>
          <p:nvPr/>
        </p:nvPicPr>
        <p:blipFill>
          <a:blip r:embed="rId3"/>
          <a:srcRect b="7465"/>
          <a:stretch/>
        </p:blipFill>
        <p:spPr bwMode="auto">
          <a:xfrm>
            <a:off x="319332" y="1124262"/>
            <a:ext cx="4057650" cy="4512663"/>
          </a:xfrm>
          <a:prstGeom prst="rect">
            <a:avLst/>
          </a:prstGeom>
        </p:spPr>
      </p:pic>
      <p:pic>
        <p:nvPicPr>
          <p:cNvPr id="1518357243" name="Picture 151835724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095999" y="1124262"/>
            <a:ext cx="3514917" cy="3051615"/>
          </a:xfrm>
          <a:prstGeom prst="rect">
            <a:avLst/>
          </a:prstGeom>
        </p:spPr>
      </p:pic>
      <p:sp>
        <p:nvSpPr>
          <p:cNvPr id="776102589" name="TextBox 776102588"/>
          <p:cNvSpPr txBox="1"/>
          <p:nvPr/>
        </p:nvSpPr>
        <p:spPr bwMode="auto">
          <a:xfrm>
            <a:off x="5284313" y="4799095"/>
            <a:ext cx="5110453" cy="132834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sz="2000" b="1"/>
              <a:t>Potentials at this stage (vs SHE):</a:t>
            </a:r>
            <a:endParaRPr sz="2000"/>
          </a:p>
          <a:p>
            <a:pPr algn="ctr">
              <a:defRPr/>
            </a:pPr>
            <a:r>
              <a:rPr sz="2000"/>
              <a:t>Positive electrode (Br⁻): +0.4 V</a:t>
            </a:r>
          </a:p>
          <a:p>
            <a:pPr algn="ctr">
              <a:defRPr/>
            </a:pPr>
            <a:r>
              <a:rPr sz="2000"/>
              <a:t>Negative electrode (Zn²⁺): -0.3 V</a:t>
            </a:r>
          </a:p>
          <a:p>
            <a:pPr algn="ctr">
              <a:defRPr/>
            </a:pPr>
            <a:r>
              <a:rPr sz="2000"/>
              <a:t>Sum voltage : ≈ 0.7 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986793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3" y="365125"/>
            <a:ext cx="10515600" cy="50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Step 3: Redox reactions</a:t>
            </a:r>
            <a:r>
              <a:t>. Positive electrode</a:t>
            </a:r>
          </a:p>
        </p:txBody>
      </p:sp>
      <p:sp>
        <p:nvSpPr>
          <p:cNvPr id="1023977931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9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B95F6D67-4117-DFC0-6727-0E5D1C237604}" type="slidenum">
              <a:rPr lang="en-US"/>
              <a:t>9</a:t>
            </a:fld>
            <a:endParaRPr/>
          </a:p>
        </p:txBody>
      </p:sp>
      <p:pic>
        <p:nvPicPr>
          <p:cNvPr id="500128096" name="Picture 500128095"/>
          <p:cNvPicPr>
            <a:picLocks noChangeAspect="1"/>
          </p:cNvPicPr>
          <p:nvPr/>
        </p:nvPicPr>
        <p:blipFill>
          <a:blip r:embed="rId3"/>
          <a:srcRect b="7465"/>
          <a:stretch/>
        </p:blipFill>
        <p:spPr bwMode="auto">
          <a:xfrm>
            <a:off x="319332" y="1124262"/>
            <a:ext cx="4057650" cy="4512663"/>
          </a:xfrm>
          <a:prstGeom prst="rect">
            <a:avLst/>
          </a:prstGeom>
        </p:spPr>
      </p:pic>
      <p:sp>
        <p:nvSpPr>
          <p:cNvPr id="454137693" name="TextBox 454137692"/>
          <p:cNvSpPr txBox="1"/>
          <p:nvPr/>
        </p:nvSpPr>
        <p:spPr bwMode="auto">
          <a:xfrm>
            <a:off x="5284313" y="4799095"/>
            <a:ext cx="5109373" cy="132834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000" b="1"/>
              <a:t>Potentials at this stage (vs SHE):</a:t>
            </a:r>
            <a:endParaRPr sz="2000"/>
          </a:p>
          <a:p>
            <a:pPr algn="l">
              <a:defRPr/>
            </a:pPr>
            <a:r>
              <a:rPr sz="2000"/>
              <a:t>Positive electrode (Br⁻): +1.07 V</a:t>
            </a:r>
          </a:p>
          <a:p>
            <a:pPr algn="l">
              <a:defRPr/>
            </a:pPr>
            <a:r>
              <a:rPr sz="2000"/>
              <a:t>Negative electrode (Zn²⁺): -0.76 V</a:t>
            </a:r>
          </a:p>
          <a:p>
            <a:pPr algn="l">
              <a:defRPr/>
            </a:pPr>
            <a:r>
              <a:rPr sz="2000"/>
              <a:t>Sum voltage : ≈ 1.83 V</a:t>
            </a:r>
          </a:p>
        </p:txBody>
      </p:sp>
      <p:sp>
        <p:nvSpPr>
          <p:cNvPr id="1855157417" name="TextBox 1855157416"/>
          <p:cNvSpPr txBox="1"/>
          <p:nvPr/>
        </p:nvSpPr>
        <p:spPr bwMode="auto">
          <a:xfrm>
            <a:off x="5134509" y="1056269"/>
            <a:ext cx="5517070" cy="40527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000" b="1"/>
              <a:t>1.Oxidation of bromide ions (Br⁻ → Br₂):</a:t>
            </a:r>
          </a:p>
        </p:txBody>
      </p:sp>
      <p:pic>
        <p:nvPicPr>
          <p:cNvPr id="771840972" name="Picture 77184097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800524" y="1684458"/>
            <a:ext cx="6185040" cy="28741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16306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Step 3: Redox reactions</a:t>
            </a:r>
            <a:r>
              <a:t>. Positive electrode</a:t>
            </a:r>
          </a:p>
        </p:txBody>
      </p:sp>
      <p:sp>
        <p:nvSpPr>
          <p:cNvPr id="2115267412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199" y="6492872"/>
            <a:ext cx="822957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1FEB5EF3-C553-D7E7-33F0-156EFEBA0539}" type="slidenum">
              <a:rPr lang="en-US"/>
              <a:t>10</a:t>
            </a:fld>
            <a:endParaRPr/>
          </a:p>
        </p:txBody>
      </p:sp>
      <p:pic>
        <p:nvPicPr>
          <p:cNvPr id="588702956" name="Picture 588702955"/>
          <p:cNvPicPr>
            <a:picLocks noChangeAspect="1"/>
          </p:cNvPicPr>
          <p:nvPr/>
        </p:nvPicPr>
        <p:blipFill>
          <a:blip r:embed="rId3"/>
          <a:srcRect b="7465"/>
          <a:stretch/>
        </p:blipFill>
        <p:spPr bwMode="auto">
          <a:xfrm>
            <a:off x="319332" y="1124262"/>
            <a:ext cx="4057650" cy="4512663"/>
          </a:xfrm>
          <a:prstGeom prst="rect">
            <a:avLst/>
          </a:prstGeom>
        </p:spPr>
      </p:pic>
      <p:sp>
        <p:nvSpPr>
          <p:cNvPr id="464707189" name="TextBox 464707188"/>
          <p:cNvSpPr txBox="1"/>
          <p:nvPr/>
        </p:nvSpPr>
        <p:spPr bwMode="auto">
          <a:xfrm>
            <a:off x="5284313" y="4799095"/>
            <a:ext cx="5109732" cy="132834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000" b="1"/>
              <a:t>Potentials at this stage (vs SHE):</a:t>
            </a:r>
            <a:endParaRPr sz="2000"/>
          </a:p>
          <a:p>
            <a:pPr algn="l">
              <a:defRPr/>
            </a:pPr>
            <a:r>
              <a:rPr sz="2000"/>
              <a:t>Positive electrode (Br⁻): +1.07 V</a:t>
            </a:r>
          </a:p>
          <a:p>
            <a:pPr algn="l">
              <a:defRPr/>
            </a:pPr>
            <a:r>
              <a:rPr sz="2000"/>
              <a:t>Negative electrode (Zn²⁺): -0.76 V</a:t>
            </a:r>
          </a:p>
          <a:p>
            <a:pPr algn="l">
              <a:defRPr/>
            </a:pPr>
            <a:r>
              <a:rPr sz="2000"/>
              <a:t>Sum voltage : ≈ 1.83 V</a:t>
            </a:r>
          </a:p>
        </p:txBody>
      </p:sp>
      <p:sp>
        <p:nvSpPr>
          <p:cNvPr id="382216828" name="TextBox 382216827"/>
          <p:cNvSpPr txBox="1"/>
          <p:nvPr/>
        </p:nvSpPr>
        <p:spPr bwMode="auto">
          <a:xfrm>
            <a:off x="5134509" y="1056268"/>
            <a:ext cx="6172890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Formation of polybromides (Side reactions):</a:t>
            </a:r>
            <a:endParaRPr sz="2000" b="1"/>
          </a:p>
        </p:txBody>
      </p:sp>
      <p:pic>
        <p:nvPicPr>
          <p:cNvPr id="1785758875" name="Picture 178575887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796886" y="2068862"/>
            <a:ext cx="6459341" cy="18373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601944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Step 3: Redox reactions</a:t>
            </a:r>
            <a:r>
              <a:t>. Positive electrode</a:t>
            </a:r>
          </a:p>
        </p:txBody>
      </p:sp>
      <p:sp>
        <p:nvSpPr>
          <p:cNvPr id="1458233981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199" y="6492872"/>
            <a:ext cx="822957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36B05D48-54CA-C72F-5911-316C07DEE676}" type="slidenum">
              <a:rPr lang="en-US"/>
              <a:t>11</a:t>
            </a:fld>
            <a:endParaRPr/>
          </a:p>
        </p:txBody>
      </p:sp>
      <p:pic>
        <p:nvPicPr>
          <p:cNvPr id="595449364" name="Picture 595449363"/>
          <p:cNvPicPr>
            <a:picLocks noChangeAspect="1"/>
          </p:cNvPicPr>
          <p:nvPr/>
        </p:nvPicPr>
        <p:blipFill>
          <a:blip r:embed="rId3"/>
          <a:srcRect b="7465"/>
          <a:stretch/>
        </p:blipFill>
        <p:spPr bwMode="auto">
          <a:xfrm>
            <a:off x="319332" y="1124262"/>
            <a:ext cx="4057650" cy="4512663"/>
          </a:xfrm>
          <a:prstGeom prst="rect">
            <a:avLst/>
          </a:prstGeom>
        </p:spPr>
      </p:pic>
      <p:sp>
        <p:nvSpPr>
          <p:cNvPr id="53014775" name="TextBox 53014774"/>
          <p:cNvSpPr txBox="1"/>
          <p:nvPr/>
        </p:nvSpPr>
        <p:spPr bwMode="auto">
          <a:xfrm>
            <a:off x="5284314" y="4799095"/>
            <a:ext cx="5109732" cy="13283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000" b="1"/>
              <a:t>Potentials at this stage (vs SHE):</a:t>
            </a:r>
            <a:endParaRPr sz="2000"/>
          </a:p>
          <a:p>
            <a:pPr algn="l">
              <a:defRPr/>
            </a:pPr>
            <a:r>
              <a:rPr sz="2000"/>
              <a:t>Positive electrode (Br⁻): +1.07 V</a:t>
            </a:r>
          </a:p>
          <a:p>
            <a:pPr algn="l">
              <a:defRPr/>
            </a:pPr>
            <a:r>
              <a:rPr sz="2000"/>
              <a:t>Negative electrode (Zn²⁺): -0.76 V</a:t>
            </a:r>
          </a:p>
          <a:p>
            <a:pPr algn="l">
              <a:defRPr/>
            </a:pPr>
            <a:r>
              <a:rPr sz="2000"/>
              <a:t>Sum voltage : ≈ 1.83 V</a:t>
            </a:r>
          </a:p>
        </p:txBody>
      </p:sp>
      <p:sp>
        <p:nvSpPr>
          <p:cNvPr id="1853231405" name="TextBox 1853231404"/>
          <p:cNvSpPr txBox="1"/>
          <p:nvPr/>
        </p:nvSpPr>
        <p:spPr bwMode="auto">
          <a:xfrm>
            <a:off x="4061434" y="1056267"/>
            <a:ext cx="7906465" cy="34257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Tribromide ion (Br₃⁻) and Pentabromide ion (Br</a:t>
            </a:r>
            <a:r>
              <a:rPr lang="en-US" sz="1600" b="1" i="0" u="none" strike="noStrike" cap="none" spc="0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  <a:r>
              <a:rPr lang="en-US" sz="16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⁻) according to VSEPR theory:</a:t>
            </a:r>
            <a:endParaRPr sz="1600" b="1"/>
          </a:p>
        </p:txBody>
      </p:sp>
      <p:pic>
        <p:nvPicPr>
          <p:cNvPr id="1807107749" name="Picture 180710774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668155" y="1461539"/>
            <a:ext cx="4498647" cy="1152545"/>
          </a:xfrm>
          <a:prstGeom prst="rect">
            <a:avLst/>
          </a:prstGeom>
        </p:spPr>
      </p:pic>
      <p:pic>
        <p:nvPicPr>
          <p:cNvPr id="674205706" name="Picture 674205705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762383" y="2878647"/>
            <a:ext cx="3862755" cy="1920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502742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Step 3: Redox reactions</a:t>
            </a:r>
            <a:r>
              <a:t>. Positive electrode</a:t>
            </a:r>
          </a:p>
        </p:txBody>
      </p:sp>
      <p:sp>
        <p:nvSpPr>
          <p:cNvPr id="834742837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199" y="6492872"/>
            <a:ext cx="822957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59320A87-BFD3-D7D9-64BD-6ECA2FC9385D}" type="slidenum">
              <a:rPr lang="en-US"/>
              <a:t>12</a:t>
            </a:fld>
            <a:endParaRPr/>
          </a:p>
        </p:txBody>
      </p:sp>
      <p:pic>
        <p:nvPicPr>
          <p:cNvPr id="668378113" name="Picture 668378112"/>
          <p:cNvPicPr>
            <a:picLocks noChangeAspect="1"/>
          </p:cNvPicPr>
          <p:nvPr/>
        </p:nvPicPr>
        <p:blipFill>
          <a:blip r:embed="rId3"/>
          <a:srcRect b="7465"/>
          <a:stretch/>
        </p:blipFill>
        <p:spPr bwMode="auto">
          <a:xfrm>
            <a:off x="319332" y="1124262"/>
            <a:ext cx="4057650" cy="4512663"/>
          </a:xfrm>
          <a:prstGeom prst="rect">
            <a:avLst/>
          </a:prstGeom>
        </p:spPr>
      </p:pic>
      <p:sp>
        <p:nvSpPr>
          <p:cNvPr id="1479771544" name="TextBox 1479771543"/>
          <p:cNvSpPr txBox="1"/>
          <p:nvPr/>
        </p:nvSpPr>
        <p:spPr bwMode="auto">
          <a:xfrm>
            <a:off x="5284314" y="4799095"/>
            <a:ext cx="5109732" cy="13283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000" b="1"/>
              <a:t>Potentials at this stage (vs SHE):</a:t>
            </a:r>
            <a:endParaRPr sz="2000"/>
          </a:p>
          <a:p>
            <a:pPr algn="l">
              <a:defRPr/>
            </a:pPr>
            <a:r>
              <a:rPr sz="2000"/>
              <a:t>Positive electrode (Br⁻): +1.07 V</a:t>
            </a:r>
          </a:p>
          <a:p>
            <a:pPr algn="l">
              <a:defRPr/>
            </a:pPr>
            <a:r>
              <a:rPr sz="2000"/>
              <a:t>Negative electrode (Zn²⁺): -0.76 V</a:t>
            </a:r>
          </a:p>
          <a:p>
            <a:pPr algn="l">
              <a:defRPr/>
            </a:pPr>
            <a:r>
              <a:rPr sz="2000"/>
              <a:t>Sum voltage : ≈ 1.83 V</a:t>
            </a:r>
          </a:p>
        </p:txBody>
      </p:sp>
      <p:sp>
        <p:nvSpPr>
          <p:cNvPr id="1883871128" name="TextBox 1883871127"/>
          <p:cNvSpPr txBox="1"/>
          <p:nvPr/>
        </p:nvSpPr>
        <p:spPr bwMode="auto">
          <a:xfrm>
            <a:off x="4529876" y="1056267"/>
            <a:ext cx="7262300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Spontaneous reduction of bromine (Side reactions):</a:t>
            </a:r>
            <a:endParaRPr sz="2000" b="1"/>
          </a:p>
        </p:txBody>
      </p:sp>
      <p:pic>
        <p:nvPicPr>
          <p:cNvPr id="2136876258" name="Picture 213687625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15222" y="2299160"/>
            <a:ext cx="6491609" cy="18153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316241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Step 3: Redox reactions</a:t>
            </a:r>
            <a:r>
              <a:t>. Positive electrode</a:t>
            </a:r>
          </a:p>
        </p:txBody>
      </p:sp>
      <p:sp>
        <p:nvSpPr>
          <p:cNvPr id="942986269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199" y="6492872"/>
            <a:ext cx="822957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837C7146-84D0-02CF-E157-B11C16E10A00}" type="slidenum">
              <a:rPr lang="en-US"/>
              <a:t>13</a:t>
            </a:fld>
            <a:endParaRPr/>
          </a:p>
        </p:txBody>
      </p:sp>
      <p:pic>
        <p:nvPicPr>
          <p:cNvPr id="599869358" name="Picture 599869357"/>
          <p:cNvPicPr>
            <a:picLocks noChangeAspect="1"/>
          </p:cNvPicPr>
          <p:nvPr/>
        </p:nvPicPr>
        <p:blipFill>
          <a:blip r:embed="rId3"/>
          <a:srcRect b="7465"/>
          <a:stretch/>
        </p:blipFill>
        <p:spPr bwMode="auto">
          <a:xfrm>
            <a:off x="319332" y="1124262"/>
            <a:ext cx="4057650" cy="4512663"/>
          </a:xfrm>
          <a:prstGeom prst="rect">
            <a:avLst/>
          </a:prstGeom>
        </p:spPr>
      </p:pic>
      <p:sp>
        <p:nvSpPr>
          <p:cNvPr id="383974356" name="TextBox 383974355"/>
          <p:cNvSpPr txBox="1"/>
          <p:nvPr/>
        </p:nvSpPr>
        <p:spPr bwMode="auto">
          <a:xfrm>
            <a:off x="4529876" y="1056267"/>
            <a:ext cx="726265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Factors affecting the positive electrode:</a:t>
            </a:r>
            <a:endParaRPr sz="2000" b="1"/>
          </a:p>
        </p:txBody>
      </p:sp>
      <p:sp>
        <p:nvSpPr>
          <p:cNvPr id="1590717135" name="TextBox 1590717134"/>
          <p:cNvSpPr txBox="1"/>
          <p:nvPr/>
        </p:nvSpPr>
        <p:spPr bwMode="auto">
          <a:xfrm>
            <a:off x="4748483" y="1861153"/>
            <a:ext cx="7170771" cy="3383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/>
              <a:t>1. </a:t>
            </a:r>
            <a:r>
              <a:rPr sz="1800" b="1"/>
              <a:t>Degree of bromine adsorption</a:t>
            </a:r>
            <a:r>
              <a:rPr sz="1800"/>
              <a:t> – depends on the electrode material and its texture.</a:t>
            </a:r>
          </a:p>
          <a:p>
            <a:pPr algn="l">
              <a:defRPr/>
            </a:pPr>
            <a:r>
              <a:rPr sz="1800"/>
              <a:t>2. </a:t>
            </a:r>
            <a:r>
              <a:rPr sz="1800" b="1"/>
              <a:t>Concentration of bromide ions and bromine</a:t>
            </a:r>
            <a:r>
              <a:rPr sz="1800"/>
              <a:t> – affects the rate of formation and decomposition of polybromides.</a:t>
            </a:r>
          </a:p>
          <a:p>
            <a:pPr algn="l">
              <a:defRPr/>
            </a:pPr>
            <a:r>
              <a:rPr sz="1800"/>
              <a:t>3. </a:t>
            </a:r>
            <a:r>
              <a:rPr sz="1800" b="1"/>
              <a:t>Electrode material</a:t>
            </a:r>
            <a:r>
              <a:rPr sz="1800"/>
              <a:t> – affects the catalytic activity of electrode processes.</a:t>
            </a:r>
          </a:p>
          <a:p>
            <a:pPr algn="l">
              <a:defRPr/>
            </a:pPr>
            <a:r>
              <a:rPr sz="1800"/>
              <a:t>4. </a:t>
            </a:r>
            <a:r>
              <a:rPr sz="1800" b="1"/>
              <a:t>Electrolytic environment </a:t>
            </a:r>
            <a:r>
              <a:rPr sz="1800"/>
              <a:t>– pH and ionic strength of the electrolyte affectnelectrochemical activity.</a:t>
            </a:r>
          </a:p>
          <a:p>
            <a:pPr algn="l">
              <a:defRPr/>
            </a:pPr>
            <a:r>
              <a:rPr sz="1800"/>
              <a:t>5. </a:t>
            </a:r>
            <a:r>
              <a:rPr sz="1800" b="1"/>
              <a:t>Temperature</a:t>
            </a:r>
            <a:r>
              <a:rPr sz="1800"/>
              <a:t> – high temperature increases the diffusion of bromine and polybromides, increasing the risk of self-discharge.</a:t>
            </a:r>
          </a:p>
          <a:p>
            <a:pPr algn="l">
              <a:defRPr/>
            </a:pPr>
            <a:r>
              <a:rPr sz="1800"/>
              <a:t>6. </a:t>
            </a:r>
            <a:r>
              <a:rPr sz="1800" b="1"/>
              <a:t>Side reactions </a:t>
            </a:r>
            <a:r>
              <a:rPr sz="1800"/>
              <a:t>– the formation of COBr and its interaction with electrolyte materials can reduce the stability of the 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71478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Step 3: Redox reactions</a:t>
            </a:r>
            <a:r>
              <a:t>. Negative electrode</a:t>
            </a:r>
          </a:p>
        </p:txBody>
      </p:sp>
      <p:sp>
        <p:nvSpPr>
          <p:cNvPr id="98361240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199" y="6492872"/>
            <a:ext cx="822957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B5864ACC-D71E-0E68-DD80-50291E8CFB63}" type="slidenum">
              <a:rPr lang="en-US"/>
              <a:t>14</a:t>
            </a:fld>
            <a:endParaRPr/>
          </a:p>
        </p:txBody>
      </p:sp>
      <p:pic>
        <p:nvPicPr>
          <p:cNvPr id="778586427" name="Picture 778586426"/>
          <p:cNvPicPr>
            <a:picLocks noChangeAspect="1"/>
          </p:cNvPicPr>
          <p:nvPr/>
        </p:nvPicPr>
        <p:blipFill>
          <a:blip r:embed="rId3"/>
          <a:srcRect b="7465"/>
          <a:stretch/>
        </p:blipFill>
        <p:spPr bwMode="auto">
          <a:xfrm>
            <a:off x="319332" y="1124262"/>
            <a:ext cx="4057650" cy="4512663"/>
          </a:xfrm>
          <a:prstGeom prst="rect">
            <a:avLst/>
          </a:prstGeom>
        </p:spPr>
      </p:pic>
      <p:sp>
        <p:nvSpPr>
          <p:cNvPr id="1447930413" name="TextBox 1447930412"/>
          <p:cNvSpPr txBox="1"/>
          <p:nvPr/>
        </p:nvSpPr>
        <p:spPr bwMode="auto">
          <a:xfrm>
            <a:off x="5284314" y="4799095"/>
            <a:ext cx="5109732" cy="13283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000" b="1"/>
              <a:t>Potentials at this stage (vs SHE):</a:t>
            </a:r>
            <a:endParaRPr sz="2000"/>
          </a:p>
          <a:p>
            <a:pPr algn="l">
              <a:defRPr/>
            </a:pPr>
            <a:r>
              <a:rPr sz="2000"/>
              <a:t>Positive electrode (Br⁻): +1.07 V</a:t>
            </a:r>
          </a:p>
          <a:p>
            <a:pPr algn="l">
              <a:defRPr/>
            </a:pPr>
            <a:r>
              <a:rPr sz="2000"/>
              <a:t>Negative electrode (Zn²⁺): -0.76 V</a:t>
            </a:r>
          </a:p>
          <a:p>
            <a:pPr algn="l">
              <a:defRPr/>
            </a:pPr>
            <a:r>
              <a:rPr sz="2000"/>
              <a:t>Sum voltage : ≈ 1.83 V</a:t>
            </a:r>
          </a:p>
        </p:txBody>
      </p:sp>
      <p:sp>
        <p:nvSpPr>
          <p:cNvPr id="2119595013" name="TextBox 2119595012"/>
          <p:cNvSpPr txBox="1"/>
          <p:nvPr/>
        </p:nvSpPr>
        <p:spPr bwMode="auto">
          <a:xfrm>
            <a:off x="4529876" y="1056266"/>
            <a:ext cx="7731822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305908" indent="-305908">
              <a:buAutoNum type="arabicPeriod"/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the electrode potential reaches E₀ = -0.76 V (SHE), zinc deposition occurs on the electrode surface via the reaction:</a:t>
            </a:r>
            <a:endParaRPr lang="en-US" sz="20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750400814" name="Picture 75040081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451898" y="2347673"/>
            <a:ext cx="7338838" cy="1081326"/>
          </a:xfrm>
          <a:prstGeom prst="rect">
            <a:avLst/>
          </a:prstGeom>
        </p:spPr>
      </p:pic>
      <p:sp>
        <p:nvSpPr>
          <p:cNvPr id="1224024910" name="TextBox 1224024909"/>
          <p:cNvSpPr txBox="1"/>
          <p:nvPr/>
        </p:nvSpPr>
        <p:spPr bwMode="auto">
          <a:xfrm>
            <a:off x="4966979" y="3711313"/>
            <a:ext cx="6590256" cy="37392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/>
              <a:t>Zn²⁺ penetrates into the pores of the carbon, fixing the charge.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39122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Step 3: Redox reactions</a:t>
            </a:r>
            <a:r>
              <a:t>. Negative electrode</a:t>
            </a:r>
          </a:p>
        </p:txBody>
      </p:sp>
      <p:sp>
        <p:nvSpPr>
          <p:cNvPr id="741936982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199" y="6492872"/>
            <a:ext cx="822957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2793F5A6-384B-92C7-EC8B-17A6BBC68AA5}" type="slidenum">
              <a:rPr lang="en-US"/>
              <a:t>15</a:t>
            </a:fld>
            <a:endParaRPr/>
          </a:p>
        </p:txBody>
      </p:sp>
      <p:pic>
        <p:nvPicPr>
          <p:cNvPr id="719694415" name="Picture 719694414"/>
          <p:cNvPicPr>
            <a:picLocks noChangeAspect="1"/>
          </p:cNvPicPr>
          <p:nvPr/>
        </p:nvPicPr>
        <p:blipFill>
          <a:blip r:embed="rId3"/>
          <a:srcRect b="7465"/>
          <a:stretch/>
        </p:blipFill>
        <p:spPr bwMode="auto">
          <a:xfrm>
            <a:off x="319332" y="1124262"/>
            <a:ext cx="4057650" cy="4512663"/>
          </a:xfrm>
          <a:prstGeom prst="rect">
            <a:avLst/>
          </a:prstGeom>
        </p:spPr>
      </p:pic>
      <p:sp>
        <p:nvSpPr>
          <p:cNvPr id="1376615955" name="TextBox 1376615954"/>
          <p:cNvSpPr txBox="1"/>
          <p:nvPr/>
        </p:nvSpPr>
        <p:spPr bwMode="auto">
          <a:xfrm>
            <a:off x="5284314" y="4799095"/>
            <a:ext cx="5109732" cy="13283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000" b="1"/>
              <a:t>Potentials at this stage (vs SHE):</a:t>
            </a:r>
            <a:endParaRPr sz="2000"/>
          </a:p>
          <a:p>
            <a:pPr algn="l">
              <a:defRPr/>
            </a:pPr>
            <a:r>
              <a:rPr sz="2000"/>
              <a:t>Positive electrode (Br⁻): +1.07 V</a:t>
            </a:r>
          </a:p>
          <a:p>
            <a:pPr algn="l">
              <a:defRPr/>
            </a:pPr>
            <a:r>
              <a:rPr sz="2000"/>
              <a:t>Negative electrode (Zn²⁺): -0.76 V</a:t>
            </a:r>
          </a:p>
          <a:p>
            <a:pPr algn="l">
              <a:defRPr/>
            </a:pPr>
            <a:r>
              <a:rPr sz="2000"/>
              <a:t>Sum voltage : ≈ 1.83 V</a:t>
            </a:r>
          </a:p>
        </p:txBody>
      </p:sp>
      <p:sp>
        <p:nvSpPr>
          <p:cNvPr id="1688652980" name="TextBox 1688652979"/>
          <p:cNvSpPr txBox="1"/>
          <p:nvPr/>
        </p:nvSpPr>
        <p:spPr bwMode="auto">
          <a:xfrm>
            <a:off x="4529876" y="1056265"/>
            <a:ext cx="7735782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Hydrogen reduction process (Side reaction):</a:t>
            </a:r>
            <a:endParaRPr lang="en-US" sz="20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1045112529" name="Picture 104511252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770925" y="1592704"/>
            <a:ext cx="6832554" cy="30831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519157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Step 3: Redox reactions</a:t>
            </a:r>
            <a:r>
              <a:t>. Negative electrode</a:t>
            </a:r>
          </a:p>
        </p:txBody>
      </p:sp>
      <p:sp>
        <p:nvSpPr>
          <p:cNvPr id="1555063163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199" y="6492872"/>
            <a:ext cx="822957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573D21A5-CF37-30EF-7DC1-58322AC949DE}" type="slidenum">
              <a:rPr lang="en-US"/>
              <a:t>16</a:t>
            </a:fld>
            <a:endParaRPr/>
          </a:p>
        </p:txBody>
      </p:sp>
      <p:pic>
        <p:nvPicPr>
          <p:cNvPr id="1170668042" name="Picture 1170668041"/>
          <p:cNvPicPr>
            <a:picLocks noChangeAspect="1"/>
          </p:cNvPicPr>
          <p:nvPr/>
        </p:nvPicPr>
        <p:blipFill>
          <a:blip r:embed="rId3"/>
          <a:srcRect b="7465"/>
          <a:stretch/>
        </p:blipFill>
        <p:spPr bwMode="auto">
          <a:xfrm>
            <a:off x="319332" y="1124262"/>
            <a:ext cx="4057650" cy="4512663"/>
          </a:xfrm>
          <a:prstGeom prst="rect">
            <a:avLst/>
          </a:prstGeom>
        </p:spPr>
      </p:pic>
      <p:sp>
        <p:nvSpPr>
          <p:cNvPr id="76442547" name="TextBox 76442546"/>
          <p:cNvSpPr txBox="1"/>
          <p:nvPr/>
        </p:nvSpPr>
        <p:spPr bwMode="auto">
          <a:xfrm>
            <a:off x="4529876" y="1056267"/>
            <a:ext cx="726553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Factors affecting negative electrode:</a:t>
            </a:r>
            <a:endParaRPr sz="2000" b="1"/>
          </a:p>
        </p:txBody>
      </p:sp>
      <p:sp>
        <p:nvSpPr>
          <p:cNvPr id="1556965162" name="TextBox 1556965161"/>
          <p:cNvSpPr txBox="1"/>
          <p:nvPr/>
        </p:nvSpPr>
        <p:spPr bwMode="auto">
          <a:xfrm>
            <a:off x="4654794" y="1954841"/>
            <a:ext cx="7425648" cy="351249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6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Electrode potential of zinc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determines the rate of its dissolution and precipitation.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Concentration of Zn²⁺ in the electrolyte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affects the equilibrium of precipitation and dissolution.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Temperature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increases the kinetics of the reaction, but can enhance side processes.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pH of the electrolyte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affects the solubility of zinc oxides and hydroxides.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The presence of complexing agents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can change the mechanism of dissolution and precipitation.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 Morphology of precipitated zinc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controls the mechanical stability of the electrode.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 Impurities in the electrolyte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can catalyze or inhibit the zinc reaction.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 Current load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at high currents, dendrites may form, reducing the service life of the battery.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657950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319333" y="365125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Step 4: Fully charged zinc-bromine battery</a:t>
            </a:r>
            <a:endParaRPr/>
          </a:p>
        </p:txBody>
      </p:sp>
      <p:sp>
        <p:nvSpPr>
          <p:cNvPr id="1216216017" name="Google Shape;133;gc6c52afe12_0_0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899" cy="36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pPr>
            <a:fld id="{9BDB104F-B2C8-F439-73E7-F097C5853881}" type="slidenum">
              <a:rPr lang="en-US" b="1"/>
              <a:t>17</a:t>
            </a:fld>
            <a:endParaRPr b="1"/>
          </a:p>
        </p:txBody>
      </p:sp>
      <p:sp>
        <p:nvSpPr>
          <p:cNvPr id="358285775" name="Google Shape;134;gc6c52afe12_0_0"/>
          <p:cNvSpPr txBox="1">
            <a:spLocks noGrp="1"/>
          </p:cNvSpPr>
          <p:nvPr>
            <p:ph type="ftr" idx="11"/>
          </p:nvPr>
        </p:nvSpPr>
        <p:spPr bwMode="auto">
          <a:xfrm>
            <a:off x="1131931" y="6584262"/>
            <a:ext cx="4343999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/>
              <a:t>© Geyser Batteries Oy              Confidential: no copy, no distribution</a:t>
            </a:r>
            <a:endParaRPr/>
          </a:p>
        </p:txBody>
      </p:sp>
      <p:pic>
        <p:nvPicPr>
          <p:cNvPr id="1386108080" name="Picture 1386108079"/>
          <p:cNvPicPr>
            <a:picLocks noChangeAspect="1"/>
          </p:cNvPicPr>
          <p:nvPr/>
        </p:nvPicPr>
        <p:blipFill>
          <a:blip r:embed="rId3"/>
          <a:srcRect b="7465"/>
          <a:stretch/>
        </p:blipFill>
        <p:spPr bwMode="auto">
          <a:xfrm>
            <a:off x="319332" y="1124262"/>
            <a:ext cx="4057650" cy="4512663"/>
          </a:xfrm>
          <a:prstGeom prst="rect">
            <a:avLst/>
          </a:prstGeom>
        </p:spPr>
      </p:pic>
      <p:sp>
        <p:nvSpPr>
          <p:cNvPr id="353411142" name="TextBox 353411141"/>
          <p:cNvSpPr txBox="1"/>
          <p:nvPr/>
        </p:nvSpPr>
        <p:spPr bwMode="auto">
          <a:xfrm>
            <a:off x="5284313" y="4799095"/>
            <a:ext cx="5109732" cy="132834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000" b="1"/>
              <a:t>Potentials at this stage (vs SHE):</a:t>
            </a:r>
            <a:endParaRPr sz="2000"/>
          </a:p>
          <a:p>
            <a:pPr algn="l">
              <a:defRPr/>
            </a:pPr>
            <a:r>
              <a:rPr sz="2000"/>
              <a:t>Positive electrode (Br⁻): +1.07 V</a:t>
            </a:r>
          </a:p>
          <a:p>
            <a:pPr algn="l">
              <a:defRPr/>
            </a:pPr>
            <a:r>
              <a:rPr sz="2000"/>
              <a:t>Negative electrode (Zn²⁺): -0.76 V</a:t>
            </a:r>
          </a:p>
          <a:p>
            <a:pPr algn="l">
              <a:defRPr/>
            </a:pPr>
            <a:r>
              <a:rPr sz="2000"/>
              <a:t>Sum voltage : ≈ 1.83 V</a:t>
            </a:r>
          </a:p>
        </p:txBody>
      </p:sp>
      <p:sp>
        <p:nvSpPr>
          <p:cNvPr id="1740080079" name="TextBox 1740080078"/>
          <p:cNvSpPr txBox="1"/>
          <p:nvPr/>
        </p:nvSpPr>
        <p:spPr bwMode="auto">
          <a:xfrm>
            <a:off x="5284313" y="1949991"/>
            <a:ext cx="6538833" cy="147900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/>
              <a:t>When the voltage reaches ≈1.83 V, the following occurs:</a:t>
            </a:r>
          </a:p>
          <a:p>
            <a:pPr marL="239821" indent="-239821" algn="l">
              <a:buFont typeface="Arial"/>
              <a:buChar char="•"/>
              <a:defRPr/>
            </a:pPr>
            <a:r>
              <a:rPr sz="1800"/>
              <a:t>Maximum filling of the electrical double layer (EDL).</a:t>
            </a:r>
          </a:p>
          <a:p>
            <a:pPr marL="239821" indent="-239821" algn="l">
              <a:buFont typeface="Arial"/>
              <a:buChar char="•"/>
              <a:defRPr/>
            </a:pPr>
            <a:r>
              <a:rPr sz="1800"/>
              <a:t>Complete oxidation of available Br⁻ to Br₂.</a:t>
            </a:r>
          </a:p>
          <a:p>
            <a:pPr marL="239821" indent="-239821" algn="l">
              <a:buFont typeface="Arial"/>
              <a:buChar char="•"/>
              <a:defRPr/>
            </a:pPr>
            <a:r>
              <a:rPr sz="1800"/>
              <a:t>Complete reduction of Zn²⁺ to metallic Zn at the negative electrode.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91357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1877388" cy="502489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2" tIns="45698" rIns="91422" bIns="45698" numCol="1" spcCol="0" rtlCol="0" fromWordArt="0" anchor="ctr" anchorCtr="0" forceAA="0" compatLnSpc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Exceeding 1.83 V during charging will trigger parasitic reactions</a:t>
            </a:r>
            <a:endParaRPr/>
          </a:p>
        </p:txBody>
      </p:sp>
      <p:sp>
        <p:nvSpPr>
          <p:cNvPr id="1455474489" name="Google Shape;133;gc6c52afe12_0_0"/>
          <p:cNvSpPr txBox="1">
            <a:spLocks noGrp="1"/>
          </p:cNvSpPr>
          <p:nvPr>
            <p:ph type="sldNum" idx="12"/>
          </p:nvPr>
        </p:nvSpPr>
        <p:spPr bwMode="auto">
          <a:xfrm>
            <a:off x="76199" y="6492872"/>
            <a:ext cx="822898" cy="36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pPr>
            <a:fld id="{62F9C853-F1C0-A8D1-D901-C16BCCCA3BAC}" type="slidenum">
              <a:rPr lang="en-US" b="1"/>
              <a:t>18</a:t>
            </a:fld>
            <a:endParaRPr b="1"/>
          </a:p>
        </p:txBody>
      </p:sp>
      <p:sp>
        <p:nvSpPr>
          <p:cNvPr id="2036299483" name="Google Shape;134;gc6c52afe12_0_0"/>
          <p:cNvSpPr txBox="1">
            <a:spLocks noGrp="1"/>
          </p:cNvSpPr>
          <p:nvPr>
            <p:ph type="ftr" idx="11"/>
          </p:nvPr>
        </p:nvSpPr>
        <p:spPr bwMode="auto">
          <a:xfrm>
            <a:off x="1131930" y="6584261"/>
            <a:ext cx="4343999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/>
              <a:t>© Geyser Batteries Oy              Confidential: no copy, no distribution</a:t>
            </a:r>
            <a:endParaRPr/>
          </a:p>
        </p:txBody>
      </p:sp>
      <p:pic>
        <p:nvPicPr>
          <p:cNvPr id="379831658" name="Picture 379831657"/>
          <p:cNvPicPr>
            <a:picLocks noChangeAspect="1"/>
          </p:cNvPicPr>
          <p:nvPr/>
        </p:nvPicPr>
        <p:blipFill>
          <a:blip r:embed="rId3"/>
          <a:srcRect b="7465"/>
          <a:stretch/>
        </p:blipFill>
        <p:spPr bwMode="auto">
          <a:xfrm>
            <a:off x="319332" y="1124262"/>
            <a:ext cx="4057650" cy="4512663"/>
          </a:xfrm>
          <a:prstGeom prst="rect">
            <a:avLst/>
          </a:prstGeom>
        </p:spPr>
      </p:pic>
      <p:sp>
        <p:nvSpPr>
          <p:cNvPr id="1320962269" name="TextBox 1320962268"/>
          <p:cNvSpPr txBox="1"/>
          <p:nvPr/>
        </p:nvSpPr>
        <p:spPr bwMode="auto">
          <a:xfrm>
            <a:off x="5284314" y="1124262"/>
            <a:ext cx="252853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1"/>
              <a:t>Positive electrode</a:t>
            </a:r>
          </a:p>
        </p:txBody>
      </p:sp>
      <p:sp>
        <p:nvSpPr>
          <p:cNvPr id="2030779003" name="TextBox 2030779002"/>
          <p:cNvSpPr txBox="1"/>
          <p:nvPr/>
        </p:nvSpPr>
        <p:spPr bwMode="auto">
          <a:xfrm>
            <a:off x="5284314" y="1886886"/>
            <a:ext cx="610040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</a:t>
            </a:r>
            <a:r>
              <a:rPr sz="1800" b="0"/>
              <a:t> Oxidation of water and release of oxygen. (O₂):</a:t>
            </a:r>
          </a:p>
        </p:txBody>
      </p:sp>
      <p:sp>
        <p:nvSpPr>
          <p:cNvPr id="559685529" name="TextBox 559685528"/>
          <p:cNvSpPr txBox="1"/>
          <p:nvPr/>
        </p:nvSpPr>
        <p:spPr bwMode="auto">
          <a:xfrm>
            <a:off x="5284314" y="3901190"/>
            <a:ext cx="492565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0"/>
              <a:t>2. Release of gaseous bromine from solution:</a:t>
            </a:r>
          </a:p>
        </p:txBody>
      </p:sp>
      <p:grpSp>
        <p:nvGrpSpPr>
          <p:cNvPr id="1243948581" name="Group 1243948580"/>
          <p:cNvGrpSpPr/>
          <p:nvPr/>
        </p:nvGrpSpPr>
        <p:grpSpPr bwMode="auto">
          <a:xfrm>
            <a:off x="5358482" y="2143640"/>
            <a:ext cx="3987544" cy="1446186"/>
            <a:chOff x="0" y="0"/>
            <a:chExt cx="3987544" cy="1446186"/>
          </a:xfrm>
        </p:grpSpPr>
        <p:pic>
          <p:nvPicPr>
            <p:cNvPr id="602779787" name="Picture 602779786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>
              <a:off x="0" y="0"/>
              <a:ext cx="3987544" cy="1446186"/>
            </a:xfrm>
            <a:prstGeom prst="rect">
              <a:avLst/>
            </a:prstGeom>
          </p:spPr>
        </p:pic>
        <p:pic>
          <p:nvPicPr>
            <p:cNvPr id="1875607276" name="Picture 1875607275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>
              <a:off x="2041396" y="877262"/>
              <a:ext cx="391163" cy="359690"/>
            </a:xfrm>
            <a:prstGeom prst="rect">
              <a:avLst/>
            </a:prstGeom>
          </p:spPr>
        </p:pic>
      </p:grpSp>
      <p:pic>
        <p:nvPicPr>
          <p:cNvPr id="171998195" name="Picture 171998194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5960116" y="4667249"/>
            <a:ext cx="3398874" cy="73557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441663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1877388" cy="502489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2" tIns="45698" rIns="91422" bIns="45698" numCol="1" spcCol="0" rtlCol="0" fromWordArt="0" anchor="ctr" anchorCtr="0" forceAA="0" compatLnSpc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Exceeding 1.83 V during charging will trigger parasitic reactions</a:t>
            </a:r>
            <a:endParaRPr/>
          </a:p>
        </p:txBody>
      </p:sp>
      <p:sp>
        <p:nvSpPr>
          <p:cNvPr id="1468039520" name="Google Shape;133;gc6c52afe12_0_0"/>
          <p:cNvSpPr txBox="1">
            <a:spLocks noGrp="1"/>
          </p:cNvSpPr>
          <p:nvPr>
            <p:ph type="sldNum" idx="12"/>
          </p:nvPr>
        </p:nvSpPr>
        <p:spPr bwMode="auto">
          <a:xfrm>
            <a:off x="76199" y="6492872"/>
            <a:ext cx="822898" cy="36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pPr>
            <a:fld id="{5B894BFD-E3F4-D63B-0733-631F53D2B0CE}" type="slidenum">
              <a:rPr lang="en-US" b="1"/>
              <a:t>19</a:t>
            </a:fld>
            <a:endParaRPr b="1"/>
          </a:p>
        </p:txBody>
      </p:sp>
      <p:sp>
        <p:nvSpPr>
          <p:cNvPr id="942469680" name="Google Shape;134;gc6c52afe12_0_0"/>
          <p:cNvSpPr txBox="1">
            <a:spLocks noGrp="1"/>
          </p:cNvSpPr>
          <p:nvPr>
            <p:ph type="ftr" idx="11"/>
          </p:nvPr>
        </p:nvSpPr>
        <p:spPr bwMode="auto">
          <a:xfrm>
            <a:off x="1131930" y="6584261"/>
            <a:ext cx="4343999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/>
              <a:t>© Geyser Batteries Oy              Confidential: no copy, no distribution</a:t>
            </a:r>
            <a:endParaRPr/>
          </a:p>
        </p:txBody>
      </p:sp>
      <p:pic>
        <p:nvPicPr>
          <p:cNvPr id="1702141520" name="Picture 1702141519"/>
          <p:cNvPicPr>
            <a:picLocks noChangeAspect="1"/>
          </p:cNvPicPr>
          <p:nvPr/>
        </p:nvPicPr>
        <p:blipFill>
          <a:blip r:embed="rId3"/>
          <a:srcRect b="7465"/>
          <a:stretch/>
        </p:blipFill>
        <p:spPr bwMode="auto">
          <a:xfrm>
            <a:off x="319332" y="1124262"/>
            <a:ext cx="4057650" cy="4512663"/>
          </a:xfrm>
          <a:prstGeom prst="rect">
            <a:avLst/>
          </a:prstGeom>
        </p:spPr>
      </p:pic>
      <p:sp>
        <p:nvSpPr>
          <p:cNvPr id="1522619165" name="TextBox 1522619164"/>
          <p:cNvSpPr txBox="1"/>
          <p:nvPr/>
        </p:nvSpPr>
        <p:spPr bwMode="auto">
          <a:xfrm>
            <a:off x="5284314" y="1124262"/>
            <a:ext cx="253140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1"/>
              <a:t>Negative electrode</a:t>
            </a:r>
          </a:p>
        </p:txBody>
      </p:sp>
      <p:pic>
        <p:nvPicPr>
          <p:cNvPr id="742452534" name="Picture 74245253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376982" y="1984374"/>
            <a:ext cx="7339926" cy="31337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013162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3" y="365125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Final charging sequence (by potentials)</a:t>
            </a:r>
            <a:endParaRPr/>
          </a:p>
        </p:txBody>
      </p:sp>
      <p:sp>
        <p:nvSpPr>
          <p:cNvPr id="2106311373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9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C1BC1615-D29C-64EB-C187-553D6157C7C7}" type="slidenum">
              <a:rPr lang="en-US"/>
              <a:t>20</a:t>
            </a:fld>
            <a:endParaRPr/>
          </a:p>
        </p:txBody>
      </p:sp>
      <p:pic>
        <p:nvPicPr>
          <p:cNvPr id="1742232953" name="Picture 174223295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70209" y="1160462"/>
            <a:ext cx="9477165" cy="2756560"/>
          </a:xfrm>
          <a:prstGeom prst="rect">
            <a:avLst/>
          </a:prstGeom>
        </p:spPr>
      </p:pic>
      <p:sp>
        <p:nvSpPr>
          <p:cNvPr id="1380921047" name="TextBox 1380921046"/>
          <p:cNvSpPr txBox="1"/>
          <p:nvPr/>
        </p:nvSpPr>
        <p:spPr bwMode="auto">
          <a:xfrm>
            <a:off x="1047405" y="4086999"/>
            <a:ext cx="9990943" cy="223407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000" b="1"/>
              <a:t>Conclusion</a:t>
            </a:r>
            <a:endParaRPr sz="2000"/>
          </a:p>
          <a:p>
            <a:pPr algn="l">
              <a:defRPr/>
            </a:pPr>
            <a:r>
              <a:rPr sz="2000"/>
              <a:t>1. The voltage of the zinc-bromine battery is ≈ 1.83 V.</a:t>
            </a:r>
          </a:p>
          <a:p>
            <a:pPr algn="l">
              <a:defRPr/>
            </a:pPr>
            <a:r>
              <a:rPr sz="2000"/>
              <a:t>2. Br⁻ is oxidized to Br₂ on the positive electrode, Zn²⁺ is reduced to Zn on the negative electrode.</a:t>
            </a:r>
          </a:p>
          <a:p>
            <a:pPr algn="l">
              <a:defRPr/>
            </a:pPr>
            <a:r>
              <a:rPr sz="2000"/>
              <a:t>3. Overcharging &gt;1.83 V leads to gassing of O₂, Br2 and H₂.</a:t>
            </a:r>
          </a:p>
          <a:p>
            <a:pPr algn="l">
              <a:defRPr/>
            </a:pPr>
            <a:r>
              <a:rPr sz="2000"/>
              <a:t>4. Efficiency is increased by NaBr, CaBr₂ (increasing of ion conductivity). This mechanism ensures high energy capacity and durability of the zinc-bromine battery.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81036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76200" y="365125"/>
            <a:ext cx="13532551" cy="502491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3" tIns="45699" rIns="91423" bIns="45699" numCol="1" spcCol="0" rtlCol="0" fromWordArt="0" anchor="ctr" anchorCtr="0" forceAA="0" compatLnSpc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Calculation of parameters of zinc-bromine system in “battery mode”</a:t>
            </a:r>
            <a:endParaRPr lang="en-US" sz="3200" b="0" i="0" u="none" strike="noStrike" cap="none" spc="0">
              <a:solidFill>
                <a:schemeClr val="dk1"/>
              </a:solidFill>
              <a:latin typeface="Poppins Medium"/>
              <a:cs typeface="Poppins Medium"/>
            </a:endParaRPr>
          </a:p>
        </p:txBody>
      </p:sp>
      <p:sp>
        <p:nvSpPr>
          <p:cNvPr id="2127440422" name="Google Shape;30;p11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9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53F23B63-BD8F-903A-9444-46F408CFA1B2}" type="slidenum">
              <a:rPr lang="en-US"/>
              <a:t>21</a:t>
            </a:fld>
            <a:endParaRPr/>
          </a:p>
        </p:txBody>
      </p:sp>
      <p:pic>
        <p:nvPicPr>
          <p:cNvPr id="729224937" name="Picture 72922493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69887" y="1537710"/>
            <a:ext cx="3610481" cy="1122175"/>
          </a:xfrm>
          <a:prstGeom prst="rect">
            <a:avLst/>
          </a:prstGeom>
        </p:spPr>
      </p:pic>
      <p:sp>
        <p:nvSpPr>
          <p:cNvPr id="1948861105" name="TextBox 1948861104"/>
          <p:cNvSpPr txBox="1"/>
          <p:nvPr/>
        </p:nvSpPr>
        <p:spPr bwMode="auto">
          <a:xfrm>
            <a:off x="308450" y="1156530"/>
            <a:ext cx="4518826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200" b="1"/>
              <a:t>Rate constants for reactions :</a:t>
            </a:r>
          </a:p>
          <a:p>
            <a:pPr algn="l">
              <a:defRPr/>
            </a:pPr>
            <a:endParaRPr sz="2200" b="1"/>
          </a:p>
        </p:txBody>
      </p:sp>
      <p:sp>
        <p:nvSpPr>
          <p:cNvPr id="1189795554" name="TextBox 1189795553"/>
          <p:cNvSpPr txBox="1"/>
          <p:nvPr/>
        </p:nvSpPr>
        <p:spPr bwMode="auto">
          <a:xfrm>
            <a:off x="169887" y="2776927"/>
            <a:ext cx="509688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1"/>
              <a:t>Butler-Volmer equation:</a:t>
            </a:r>
          </a:p>
        </p:txBody>
      </p:sp>
      <p:pic>
        <p:nvPicPr>
          <p:cNvPr id="34909675" name="Picture 3490967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6199" y="3247868"/>
            <a:ext cx="4086225" cy="1323974"/>
          </a:xfrm>
          <a:prstGeom prst="rect">
            <a:avLst/>
          </a:prstGeom>
        </p:spPr>
      </p:pic>
      <p:pic>
        <p:nvPicPr>
          <p:cNvPr id="676177369" name="Picture 676177368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08450" y="4310150"/>
            <a:ext cx="4086225" cy="1796779"/>
          </a:xfrm>
          <a:prstGeom prst="rect">
            <a:avLst/>
          </a:prstGeom>
        </p:spPr>
      </p:pic>
      <p:sp>
        <p:nvSpPr>
          <p:cNvPr id="457963874" name="TextBox 457963873"/>
          <p:cNvSpPr txBox="1"/>
          <p:nvPr/>
        </p:nvSpPr>
        <p:spPr bwMode="auto">
          <a:xfrm>
            <a:off x="5782750" y="1232910"/>
            <a:ext cx="401001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1"/>
              <a:t>Exchange current:</a:t>
            </a:r>
          </a:p>
        </p:txBody>
      </p:sp>
      <p:pic>
        <p:nvPicPr>
          <p:cNvPr id="278291783" name="Picture 278291782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5090409" y="1617786"/>
            <a:ext cx="3671065" cy="675369"/>
          </a:xfrm>
          <a:prstGeom prst="rect">
            <a:avLst/>
          </a:prstGeom>
        </p:spPr>
      </p:pic>
      <p:pic>
        <p:nvPicPr>
          <p:cNvPr id="1379101363" name="Picture 1379101362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4686024" y="2161257"/>
            <a:ext cx="5840992" cy="1487799"/>
          </a:xfrm>
          <a:prstGeom prst="rect">
            <a:avLst/>
          </a:prstGeom>
        </p:spPr>
      </p:pic>
      <p:sp>
        <p:nvSpPr>
          <p:cNvPr id="1794030672" name="TextBox 1794030671"/>
          <p:cNvSpPr txBox="1"/>
          <p:nvPr/>
        </p:nvSpPr>
        <p:spPr bwMode="auto">
          <a:xfrm>
            <a:off x="5090409" y="3944030"/>
            <a:ext cx="525343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1"/>
              <a:t>Calculation of total exchange currents:</a:t>
            </a:r>
          </a:p>
        </p:txBody>
      </p:sp>
      <p:pic>
        <p:nvPicPr>
          <p:cNvPr id="535302478" name="Picture 535302477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6776803" y="4310150"/>
            <a:ext cx="2486025" cy="695324"/>
          </a:xfrm>
          <a:prstGeom prst="rect">
            <a:avLst/>
          </a:prstGeom>
        </p:spPr>
      </p:pic>
      <p:sp>
        <p:nvSpPr>
          <p:cNvPr id="1828370995" name="TextBox 1828370994"/>
          <p:cNvSpPr txBox="1"/>
          <p:nvPr/>
        </p:nvSpPr>
        <p:spPr bwMode="auto">
          <a:xfrm>
            <a:off x="5090409" y="5122346"/>
            <a:ext cx="3128649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t>i</a:t>
            </a:r>
            <a:r>
              <a:rPr baseline="-25000"/>
              <a:t>0</a:t>
            </a:r>
            <a:r>
              <a:t>— exchange current density (A/m²),</a:t>
            </a: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S— electrode surface area (m²),</a:t>
            </a:r>
            <a:endParaRPr lang="en-US" sz="1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algn="l"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— efficiency factor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600770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319333" y="365125"/>
            <a:ext cx="10515600" cy="50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BM_Version 1. Qualitative calculation.</a:t>
            </a:r>
            <a:endParaRPr/>
          </a:p>
        </p:txBody>
      </p:sp>
      <p:sp>
        <p:nvSpPr>
          <p:cNvPr id="239227019" name="Google Shape;30;p11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9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14867298-EA89-A5FB-0017-85988C305DB7}" type="slidenum">
              <a:rPr lang="en-US"/>
              <a:t>22</a:t>
            </a:fld>
            <a:endParaRPr/>
          </a:p>
        </p:txBody>
      </p:sp>
      <p:sp>
        <p:nvSpPr>
          <p:cNvPr id="1731117096" name="TextBox 1731117095"/>
          <p:cNvSpPr txBox="1"/>
          <p:nvPr/>
        </p:nvSpPr>
        <p:spPr bwMode="auto">
          <a:xfrm>
            <a:off x="319332" y="1077417"/>
            <a:ext cx="1080684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t>For simplicity, we can apply that the reaction rate is proportional to the standard rate constant (k0):</a:t>
            </a:r>
          </a:p>
        </p:txBody>
      </p:sp>
      <p:pic>
        <p:nvPicPr>
          <p:cNvPr id="1156065950" name="Picture 115606594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4770" y="1561475"/>
            <a:ext cx="1628775" cy="600075"/>
          </a:xfrm>
          <a:prstGeom prst="rect">
            <a:avLst/>
          </a:prstGeom>
        </p:spPr>
      </p:pic>
      <p:pic>
        <p:nvPicPr>
          <p:cNvPr id="2083416255" name="Picture 208341625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71450" y="2478732"/>
            <a:ext cx="5924549" cy="1152524"/>
          </a:xfrm>
          <a:prstGeom prst="rect">
            <a:avLst/>
          </a:prstGeom>
        </p:spPr>
      </p:pic>
      <p:sp>
        <p:nvSpPr>
          <p:cNvPr id="1854245548" name="TextBox 1854245547"/>
          <p:cNvSpPr txBox="1"/>
          <p:nvPr/>
        </p:nvSpPr>
        <p:spPr bwMode="auto">
          <a:xfrm>
            <a:off x="487678" y="3736938"/>
            <a:ext cx="59892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b="1"/>
              <a:t>This means that the bromine reaction is ~187.5 times slower than the zinc reaction.</a:t>
            </a:r>
            <a:endParaRPr/>
          </a:p>
        </p:txBody>
      </p:sp>
      <p:sp>
        <p:nvSpPr>
          <p:cNvPr id="870761026" name="TextBox 870761025"/>
          <p:cNvSpPr txBox="1"/>
          <p:nvPr/>
        </p:nvSpPr>
        <p:spPr bwMode="auto">
          <a:xfrm>
            <a:off x="441114" y="2161550"/>
            <a:ext cx="41363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39821" indent="-239821" algn="l">
              <a:buAutoNum type="arabicParenR"/>
              <a:defRPr/>
            </a:pPr>
            <a:r>
              <a:rPr sz="1600" b="1"/>
              <a:t>Find the ratio of </a:t>
            </a:r>
            <a:r>
              <a:rPr sz="1400" b="1"/>
              <a:t>reaction </a:t>
            </a:r>
            <a:r>
              <a:rPr sz="1600" b="1"/>
              <a:t>rates</a:t>
            </a:r>
          </a:p>
        </p:txBody>
      </p:sp>
      <p:sp>
        <p:nvSpPr>
          <p:cNvPr id="1230264104" name="TextBox 1230264103"/>
          <p:cNvSpPr txBox="1"/>
          <p:nvPr/>
        </p:nvSpPr>
        <p:spPr bwMode="auto">
          <a:xfrm>
            <a:off x="6646390" y="2105493"/>
            <a:ext cx="448051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b="1"/>
              <a:t>2) Condition of balance of reaction rates.</a:t>
            </a:r>
          </a:p>
        </p:txBody>
      </p:sp>
      <p:pic>
        <p:nvPicPr>
          <p:cNvPr id="70824701" name="Picture 70824700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901065" y="2497190"/>
            <a:ext cx="1781174" cy="571500"/>
          </a:xfrm>
          <a:prstGeom prst="rect">
            <a:avLst/>
          </a:prstGeom>
        </p:spPr>
      </p:pic>
      <p:pic>
        <p:nvPicPr>
          <p:cNvPr id="1122117151" name="Picture 1122117150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419796" y="3068690"/>
            <a:ext cx="2933699" cy="1628775"/>
          </a:xfrm>
          <a:prstGeom prst="rect">
            <a:avLst/>
          </a:prstGeom>
        </p:spPr>
      </p:pic>
      <p:sp>
        <p:nvSpPr>
          <p:cNvPr id="1165863687" name="TextBox 1165863686"/>
          <p:cNvSpPr txBox="1"/>
          <p:nvPr/>
        </p:nvSpPr>
        <p:spPr bwMode="auto">
          <a:xfrm>
            <a:off x="644106" y="4474762"/>
            <a:ext cx="9572420" cy="15913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endParaRPr/>
          </a:p>
          <a:p>
            <a:pPr algn="l">
              <a:defRPr/>
            </a:pPr>
            <a:r>
              <a:rPr b="1"/>
              <a:t>Conclusion</a:t>
            </a:r>
            <a:endParaRPr/>
          </a:p>
          <a:p>
            <a:pPr algn="l">
              <a:defRPr/>
            </a:pPr>
            <a:r>
              <a:t>• Kinetic of Zn reaction is 187.5 times faster then Br reaction.</a:t>
            </a:r>
          </a:p>
          <a:p>
            <a:pPr algn="l">
              <a:defRPr/>
            </a:pPr>
            <a:r>
              <a:t>• For the system to work efficiently, the reaction rates at both electrodes must be balanced.</a:t>
            </a:r>
          </a:p>
          <a:p>
            <a:pPr algn="l">
              <a:defRPr/>
            </a:pPr>
            <a:r>
              <a:t>• In simplified version reaction surface area for Br reaction should be 185.5 times large.</a:t>
            </a:r>
          </a:p>
          <a:p>
            <a:pPr algn="l">
              <a:defRPr/>
            </a:pPr>
            <a:r>
              <a:t>• Such a large ratio means that the Br₂/Br⁻ electrode must be highly developed (e.g. porous, with a highly active coating)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374766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319333" y="365125"/>
            <a:ext cx="10515600" cy="50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BM_Version 2. Concentration impact.</a:t>
            </a:r>
            <a:endParaRPr/>
          </a:p>
        </p:txBody>
      </p:sp>
      <p:sp>
        <p:nvSpPr>
          <p:cNvPr id="299829219" name="Google Shape;30;p11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9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14CA7A5-6911-640C-6A16-FB7CAFF61E72}" type="slidenum">
              <a:rPr lang="en-US"/>
              <a:t>23</a:t>
            </a:fld>
            <a:endParaRPr/>
          </a:p>
        </p:txBody>
      </p:sp>
      <p:sp>
        <p:nvSpPr>
          <p:cNvPr id="1798683609" name="TextBox 1798683608"/>
          <p:cNvSpPr txBox="1"/>
          <p:nvPr/>
        </p:nvSpPr>
        <p:spPr bwMode="auto">
          <a:xfrm>
            <a:off x="319332" y="1059304"/>
            <a:ext cx="391477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600" b="1"/>
              <a:t>Scenario # 1. Cbulk=1 M.</a:t>
            </a:r>
          </a:p>
        </p:txBody>
      </p:sp>
      <p:sp>
        <p:nvSpPr>
          <p:cNvPr id="782459137" name="TextBox 782459136"/>
          <p:cNvSpPr txBox="1"/>
          <p:nvPr/>
        </p:nvSpPr>
        <p:spPr bwMode="auto">
          <a:xfrm>
            <a:off x="5793689" y="937384"/>
            <a:ext cx="582600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600" b="1"/>
              <a:t>Scenario # 2 16% ZnBr₂, 18% CaBr₂, 18% NaBr</a:t>
            </a:r>
          </a:p>
        </p:txBody>
      </p:sp>
      <p:pic>
        <p:nvPicPr>
          <p:cNvPr id="1008746995" name="Picture 100874699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9836" y="1702008"/>
            <a:ext cx="4857786" cy="1910729"/>
          </a:xfrm>
          <a:prstGeom prst="rect">
            <a:avLst/>
          </a:prstGeom>
        </p:spPr>
      </p:pic>
      <p:sp>
        <p:nvSpPr>
          <p:cNvPr id="367711937" name="TextBox 367711936"/>
          <p:cNvSpPr txBox="1"/>
          <p:nvPr/>
        </p:nvSpPr>
        <p:spPr bwMode="auto">
          <a:xfrm>
            <a:off x="133295" y="3843279"/>
            <a:ext cx="4850488" cy="205639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600" b="1"/>
              <a:t>Conclusion:</a:t>
            </a:r>
            <a:r>
              <a:rPr sz="1600"/>
              <a:t> According to the nature of the reactants, the reaction of bromine is 188 =times slower than the reaction of zinc.</a:t>
            </a:r>
          </a:p>
          <a:p>
            <a:pPr marL="239821" indent="-239821" algn="l">
              <a:buFont typeface="Arial"/>
              <a:buChar char="•"/>
              <a:defRPr/>
            </a:pPr>
            <a:r>
              <a:rPr sz="1600"/>
              <a:t>The reduction reaction of Zn²⁺ is significantly faster than the reduction of Br₂ .·</a:t>
            </a:r>
          </a:p>
          <a:p>
            <a:pPr marL="239821" indent="-239821" algn="l">
              <a:buFont typeface="Arial"/>
              <a:buChar char="•"/>
              <a:defRPr/>
            </a:pPr>
            <a:r>
              <a:rPr sz="1600"/>
              <a:t>Kinetics of the reaction onto the positive electrode (Br₂/Br⁻) limits the overall rate of the electrochemical process.·</a:t>
            </a:r>
          </a:p>
        </p:txBody>
      </p:sp>
      <p:pic>
        <p:nvPicPr>
          <p:cNvPr id="933948962" name="Picture 93394896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466762" y="2339073"/>
            <a:ext cx="5544762" cy="21798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34758" name="Google Shape;27;p11"/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0515600" cy="5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BM_Version 2. Concentration impact.Summary table.</a:t>
            </a:r>
            <a:endParaRPr/>
          </a:p>
        </p:txBody>
      </p:sp>
      <p:sp>
        <p:nvSpPr>
          <p:cNvPr id="1715784028" name="Google Shape;30;p11"/>
          <p:cNvSpPr txBox="1">
            <a:spLocks noGrp="1"/>
          </p:cNvSpPr>
          <p:nvPr>
            <p:ph type="sldNum" idx="12"/>
          </p:nvPr>
        </p:nvSpPr>
        <p:spPr bwMode="auto">
          <a:xfrm>
            <a:off x="76199" y="6492872"/>
            <a:ext cx="822957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1EE5F17E-0BBD-9BC9-39C2-B956A6D3C695}" type="slidenum">
              <a:rPr lang="en-US"/>
              <a:t>24</a:t>
            </a:fld>
            <a:endParaRPr/>
          </a:p>
        </p:txBody>
      </p:sp>
      <p:graphicFrame>
        <p:nvGraphicFramePr>
          <p:cNvPr id="591608855" name="Table 591608854"/>
          <p:cNvGraphicFramePr>
            <a:graphicFrameLocks/>
          </p:cNvGraphicFramePr>
          <p:nvPr/>
        </p:nvGraphicFramePr>
        <p:xfrm>
          <a:off x="704606" y="1030573"/>
          <a:ext cx="10305391" cy="53686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94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№ Scenario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Parametries</a:t>
                      </a:r>
                      <a:endParaRPr sz="11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Cbulk​=1 M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18B18C16Z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Surface area of ​​material positive electrode, m²/g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w="9524" algn="ctr"/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Surface area of ​​material negative electrode, m²/g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carbon mass of Br-electrode, g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carbon mass of Zn-electrode, g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38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Full surface of negative electode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38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Full surface of positive electode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Concetration Zn²⁺, M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0.71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Concetration Br⁻, M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4.97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38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Density of electrolyte «+», g/ml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1.62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738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Density of electrolyte «-», g/ml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1.65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738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Ratio of electrolyte mass/carbon mass «+», g/g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738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Ratio of electrolyte mass/carbon mass «-», g/g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738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% electrolyte loss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738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electrolyte mass «+», g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738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electrolyte mass «-», g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electrolyte volume «+», l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electrolyte volume «-», l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rate constant for the Br 2 on activated carbon (m/s)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4.00E-07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4.00E-07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rate constant for the Zn redox reaction (Zn2+ /Zn) (m/s)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7.50E-05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7.50E-05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Exchange current Br₂ (j₀), A/m²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0.077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0.384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Exchange current Zn (j₀), A/m²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14.47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10.28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Ratio of speeds (i₀Zn/i₀Br)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187.50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26.79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7738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Exchange current according to surface area I0«+», A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7738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Exchange current according to surface area I0 «-», A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7738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Ratio of total exchange currents (I₀Zn/I₀Br)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Overvoltage Zn, V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0.089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0.098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Overvoltage Br, V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0.223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0.182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overvoltage, V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0.312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0.280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Actual voltage for zinc-bromine cell, V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1.54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1.57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Efficiency (Voltage), %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84.44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86.22</a:t>
                      </a:r>
                      <a:endParaRPr sz="11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505335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3" y="365125"/>
            <a:ext cx="10515600" cy="50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BM_Version 3. Impact of electrode surface area.</a:t>
            </a:r>
            <a:endParaRPr/>
          </a:p>
        </p:txBody>
      </p:sp>
      <p:sp>
        <p:nvSpPr>
          <p:cNvPr id="1802751416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9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20C9E9B1-F37E-7221-D269-593D0C92D3ED}" type="slidenum">
              <a:rPr lang="en-US"/>
              <a:t>25</a:t>
            </a:fld>
            <a:endParaRPr/>
          </a:p>
        </p:txBody>
      </p:sp>
      <p:sp>
        <p:nvSpPr>
          <p:cNvPr id="178080654" name="TextBox 178080653"/>
          <p:cNvSpPr txBox="1"/>
          <p:nvPr/>
        </p:nvSpPr>
        <p:spPr bwMode="auto">
          <a:xfrm>
            <a:off x="319332" y="1015083"/>
            <a:ext cx="1069138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000" b="1"/>
              <a:t>Assumption: In this version, the reaction surface is considered as the surface of a flat electrode.</a:t>
            </a:r>
          </a:p>
        </p:txBody>
      </p:sp>
      <p:graphicFrame>
        <p:nvGraphicFramePr>
          <p:cNvPr id="1218662981" name="Table 1218662980"/>
          <p:cNvGraphicFramePr>
            <a:graphicFrameLocks/>
          </p:cNvGraphicFramePr>
          <p:nvPr/>
        </p:nvGraphicFramePr>
        <p:xfrm>
          <a:off x="666000" y="2386800"/>
          <a:ext cx="10857597" cy="3017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9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№ Scenario</a:t>
                      </a:r>
                      <a:endParaRPr sz="26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26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26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sz="26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4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Parametries</a:t>
                      </a:r>
                      <a:endParaRPr sz="26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Imbalance</a:t>
                      </a:r>
                      <a:endParaRPr sz="26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Optimum for reactions</a:t>
                      </a:r>
                      <a:endParaRPr sz="26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Current case (1.53 г Br / 2.69 г Zn)</a:t>
                      </a:r>
                      <a:endParaRPr sz="26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2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Description</a:t>
                      </a:r>
                      <a:endParaRPr sz="26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Reference point with different carbon materials as negative and positive electrode. In a simple</a:t>
                      </a:r>
                      <a:endParaRPr sz="26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Variation of the surface area of electrode materials required to equalize the reaction speed.</a:t>
                      </a:r>
                      <a:endParaRPr sz="26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Scenario reflects current cells for April 2025.</a:t>
                      </a:r>
                      <a:endParaRPr sz="26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032625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1580707" cy="50249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2" tIns="45698" rIns="91422" bIns="45698" numCol="1" spcCol="0" rtlCol="0" fromWordArt="0" anchor="ctr" anchorCtr="0" forceAA="0" compatLnSpc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BM_Version 3. Impact of electrode surface area.Summary table.</a:t>
            </a:r>
            <a:endParaRPr/>
          </a:p>
        </p:txBody>
      </p:sp>
      <p:sp>
        <p:nvSpPr>
          <p:cNvPr id="1054193992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199" y="6492872"/>
            <a:ext cx="822957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2DF96545-C1B8-6358-98B3-F1C5360DDDE0}" type="slidenum">
              <a:rPr lang="en-US"/>
              <a:t>26</a:t>
            </a:fld>
            <a:endParaRPr/>
          </a:p>
        </p:txBody>
      </p:sp>
      <p:graphicFrame>
        <p:nvGraphicFramePr>
          <p:cNvPr id="257923159" name="Table 257923158"/>
          <p:cNvGraphicFramePr>
            <a:graphicFrameLocks/>
          </p:cNvGraphicFramePr>
          <p:nvPr/>
        </p:nvGraphicFramePr>
        <p:xfrm>
          <a:off x="487678" y="934386"/>
          <a:ext cx="10210023" cy="55584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4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5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1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9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№ Scenario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Parametries</a:t>
                      </a:r>
                      <a:endParaRPr sz="12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Imbalance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Optimum for reactions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Current case (1.53 г Br / 2.69 г Zn)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Surface area of ​​material positive electrode, m²/g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w="9524" algn="ctr"/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2271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2271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2271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Surface area of ​​material negative electrode, m²/g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1500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1500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carbon mass of Br-electrode, g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1.53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carbon mass of Zn-electrode, g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2.69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Full surface of negative electode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1500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4035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Full surface of positive electode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2271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2271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3474.63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Concetration Zn²⁺, M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Concetration Br⁻, M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4.97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4.97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4.97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Density of electrolyte «+», g/ml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1.62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1.62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1.62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Density of electrolyte «-», g/ml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Ratio of electrolyte mass/carbon mass «+», g/g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Ratio of electrolyte mass/carbon mass «-», g/g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6.8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6.8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6.8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% electrolyte loss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electrolyte mass «+», g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2.6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2.6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3.978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electrolyte mass «-», g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2.72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2.72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7.3168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electrolyte volume «+», l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0.0016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0.0016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0.0025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electrolyte volume «-», l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0.0016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0.0016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0.0044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rate constant for the Br 2 on activated carbon (m/s)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4.00E-07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4.00E-07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4.00E-07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rate constant for the Zn redox reaction (Zn2+ /Zn) (m/s)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7.50E-05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7.50E-05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7.50E-05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Exchange current Br₂ (j₀), A/m²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0.38362436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0.38362436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0.38362436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Exchange current Zn (j₀), A/m²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10.28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10.28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10.28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Ratio of speeds (i₀Zn/i₀Br)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26.79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26.79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26.79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Exchange current according to surface area I0«+», A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871.2109216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871.2109216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1332.95271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Exchange current according to surface area I0 «-», A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15413.47875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873.4304625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41462.25784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Ratio of total exchange currents (I₀Zn/I₀Br)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17.69201736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1.002547651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31.10557301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Overvoltage Zn, V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0.098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0.098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0.098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Overvoltage Br, V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0.182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0.182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0.182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overvoltage, V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0.280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0.280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0.280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Actual voltage for zinc-bromine cell, V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1.57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1.57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1.57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684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Efficiency (Voltage), %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86.22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86.22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86.22</a:t>
                      </a:r>
                      <a:endParaRPr sz="1200"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691835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2" y="365124"/>
            <a:ext cx="13251486" cy="50249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2" tIns="45698" rIns="91422" bIns="45698" numCol="1" spcCol="0" rtlCol="0" fromWordArt="0" anchor="ctr" anchorCtr="0" forceAA="0" compatLnSpc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Electrostatic Control in Zinc-Bromine Systems:</a:t>
            </a:r>
            <a:endParaRPr lang="en-US" sz="3200" b="0" i="0" u="none" strike="noStrike" cap="none" spc="0">
              <a:solidFill>
                <a:schemeClr val="dk1"/>
              </a:solidFill>
              <a:latin typeface="Poppins Medium"/>
              <a:cs typeface="Poppins Medium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Parameter Optimization via Electric Double Layer</a:t>
            </a:r>
            <a:endParaRPr lang="en-US" sz="3200" b="0" i="0" u="none" strike="noStrike" cap="none" spc="0">
              <a:solidFill>
                <a:schemeClr val="dk1"/>
              </a:solidFill>
              <a:latin typeface="Poppins Medium"/>
              <a:cs typeface="Poppins Medium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Effects</a:t>
            </a:r>
            <a:endParaRPr/>
          </a:p>
        </p:txBody>
      </p:sp>
      <p:sp>
        <p:nvSpPr>
          <p:cNvPr id="673808541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9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2B754A2D-ADA1-EB26-84C4-5F4D50631CFB}" type="slidenum">
              <a:rPr lang="en-US"/>
              <a:t>27</a:t>
            </a:fld>
            <a:endParaRPr/>
          </a:p>
        </p:txBody>
      </p:sp>
      <p:sp>
        <p:nvSpPr>
          <p:cNvPr id="220660475" name="TextBox 220660474"/>
          <p:cNvSpPr txBox="1"/>
          <p:nvPr/>
        </p:nvSpPr>
        <p:spPr bwMode="auto">
          <a:xfrm>
            <a:off x="202338" y="1330002"/>
            <a:ext cx="1155824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1"/>
              <a:t>The "supercapacitor" mode (SCM) </a:t>
            </a:r>
            <a:r>
              <a:rPr sz="1800" b="0"/>
              <a:t>is a mode of operation solely due to the double electric layer, in which redox reactions do not occur.</a:t>
            </a:r>
            <a:endParaRPr sz="1800" b="1"/>
          </a:p>
        </p:txBody>
      </p:sp>
      <p:pic>
        <p:nvPicPr>
          <p:cNvPr id="1837516767" name="Picture 183751676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9332" y="2057072"/>
            <a:ext cx="4717253" cy="2298038"/>
          </a:xfrm>
          <a:prstGeom prst="rect">
            <a:avLst/>
          </a:prstGeom>
        </p:spPr>
      </p:pic>
      <p:pic>
        <p:nvPicPr>
          <p:cNvPr id="2128753980" name="Picture 212875397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40532" y="4308923"/>
            <a:ext cx="6388032" cy="1886230"/>
          </a:xfrm>
          <a:prstGeom prst="rect">
            <a:avLst/>
          </a:prstGeom>
        </p:spPr>
      </p:pic>
      <p:pic>
        <p:nvPicPr>
          <p:cNvPr id="670986857" name="Picture 67098685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528565" y="1779841"/>
            <a:ext cx="4418975" cy="2575268"/>
          </a:xfrm>
          <a:prstGeom prst="rect">
            <a:avLst/>
          </a:prstGeom>
        </p:spPr>
      </p:pic>
      <p:pic>
        <p:nvPicPr>
          <p:cNvPr id="1676564597" name="Picture 1676564596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417663" y="4432272"/>
            <a:ext cx="2890327" cy="492923"/>
          </a:xfrm>
          <a:prstGeom prst="rect">
            <a:avLst/>
          </a:prstGeom>
        </p:spPr>
      </p:pic>
      <p:pic>
        <p:nvPicPr>
          <p:cNvPr id="9321097" name="Picture 9321096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5761843" y="4925196"/>
            <a:ext cx="3811598" cy="15903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157627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2" y="365123"/>
            <a:ext cx="13251486" cy="50249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2" tIns="45698" rIns="91422" bIns="45698" numCol="1" spcCol="0" rtlCol="0" fromWordArt="0" anchor="ctr" anchorCtr="0" forceAA="0" compatLnSpc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Electrostatic Control in Zinc-Bromine Systems:</a:t>
            </a:r>
            <a:endParaRPr lang="en-US" sz="3200" b="0" i="0" u="none" strike="noStrike" cap="none" spc="0">
              <a:solidFill>
                <a:schemeClr val="dk1"/>
              </a:solidFill>
              <a:latin typeface="Poppins Medium"/>
              <a:cs typeface="Poppins Medium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Parameter Optimization via Electric Double Layer</a:t>
            </a:r>
            <a:endParaRPr lang="en-US" sz="3200" b="0" i="0" u="none" strike="noStrike" cap="none" spc="0">
              <a:solidFill>
                <a:schemeClr val="dk1"/>
              </a:solidFill>
              <a:latin typeface="Poppins Medium"/>
              <a:cs typeface="Poppins Medium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Poppins Medium"/>
                <a:ea typeface="Poppins Medium"/>
                <a:cs typeface="Poppins Medium"/>
              </a:rPr>
              <a:t>Effects</a:t>
            </a:r>
            <a:endParaRPr/>
          </a:p>
        </p:txBody>
      </p:sp>
      <p:sp>
        <p:nvSpPr>
          <p:cNvPr id="140301269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199" y="6492872"/>
            <a:ext cx="822957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B5B13CBA-09D6-9FAB-7B14-85D981481970}" type="slidenum">
              <a:rPr lang="en-US"/>
              <a:t>28</a:t>
            </a:fld>
            <a:endParaRPr/>
          </a:p>
        </p:txBody>
      </p:sp>
      <p:graphicFrame>
        <p:nvGraphicFramePr>
          <p:cNvPr id="190712007" name="Table 190712006"/>
          <p:cNvGraphicFramePr>
            <a:graphicFrameLocks/>
          </p:cNvGraphicFramePr>
          <p:nvPr/>
        </p:nvGraphicFramePr>
        <p:xfrm>
          <a:off x="735836" y="1171106"/>
          <a:ext cx="10648915" cy="49967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92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0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3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2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№ Scenario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Parametries</a:t>
                      </a:r>
                      <a:endParaRPr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Imbalance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Optimum for reactions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Current case (1.53 г Br / 2.69 г Zn)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 of material positive electrode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w="9524" algn="ctr"/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YP80F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YP80F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YP80F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 of material negative electrode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PBX51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PBX52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PBX53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Surface Capacitance of  positive electrode, F/m2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0.15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0.15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0.15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Surface Capacitance of  negative electrode, F/m2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0.12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0.12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0.12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Surface area of ​​material positive electrode, m²/g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2271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2271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2271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Surface area of ​​material negative electrode, m²/g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1500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85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1500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carbon mass of positive electrode, g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1.53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carbon mass of negative electrode, g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2.69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Full surface of negative electode, m</a:t>
                      </a:r>
                      <a:r>
                        <a:rPr sz="1100" b="0" i="0" u="none" baseline="30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1500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85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4035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Full surface of positive electode, m</a:t>
                      </a:r>
                      <a:r>
                        <a:rPr sz="1100" b="0" i="0" u="none" baseline="30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2271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2271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3474.63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Ratio of full surface positive/negative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1.514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26.718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0.861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Capacity of positive electrode, F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340.65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340.65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521.1945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Capacity of negative electrode, F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180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10.2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484.2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Electrode capacity ratio C</a:t>
                      </a:r>
                      <a:r>
                        <a:rPr sz="1100" b="0" i="0" u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+</a:t>
                      </a: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/C</a:t>
                      </a:r>
                      <a:r>
                        <a:rPr sz="1100" b="0" i="0" u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1.89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33.40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1.08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capacity, F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117.77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9.90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251.01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Voltage, V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Current, A 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Energy Stored in cell, Wh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0.047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0.004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0.101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7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Power for cell, W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</a:t>
                      </a:r>
                      <a:endParaRPr/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279307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319333" y="365125"/>
            <a:ext cx="10515600" cy="50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 fontScale="90000"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t>Future work </a:t>
            </a:r>
          </a:p>
        </p:txBody>
      </p:sp>
      <p:sp>
        <p:nvSpPr>
          <p:cNvPr id="462331197" name="Google Shape;38;p13"/>
          <p:cNvSpPr txBox="1">
            <a:spLocks noGrp="1"/>
          </p:cNvSpPr>
          <p:nvPr>
            <p:ph type="sldNum" idx="12"/>
          </p:nvPr>
        </p:nvSpPr>
        <p:spPr bwMode="auto">
          <a:xfrm>
            <a:off x="76200" y="6492873"/>
            <a:ext cx="8229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Poppins Light"/>
                <a:ea typeface="Poppins Light"/>
                <a:cs typeface="Poppins Light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E241DA96-582E-860F-5E4C-C5AF8A110D1C}" type="slidenum">
              <a:rPr lang="en-US"/>
              <a:t>29</a:t>
            </a:fld>
            <a:endParaRPr/>
          </a:p>
        </p:txBody>
      </p:sp>
      <p:sp>
        <p:nvSpPr>
          <p:cNvPr id="865852809" name="TextBox 865852808"/>
          <p:cNvSpPr txBox="1"/>
          <p:nvPr/>
        </p:nvSpPr>
        <p:spPr bwMode="auto">
          <a:xfrm>
            <a:off x="797950" y="1264794"/>
            <a:ext cx="9770831" cy="405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600"/>
              <a:t>1. Description of the Electrochemical System (Zn-Br2):</a:t>
            </a:r>
          </a:p>
          <a:p>
            <a:pPr algn="l">
              <a:defRPr/>
            </a:pPr>
            <a:r>
              <a:rPr sz="2600"/>
              <a:t>• A detailed study of the influence of pH</a:t>
            </a:r>
          </a:p>
          <a:p>
            <a:pPr marL="371994" marR="0" indent="-3719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detailed study of the influence of EDL level on the kinetics of Faradaic processes</a:t>
            </a:r>
            <a:endParaRPr sz="2600"/>
          </a:p>
          <a:p>
            <a:pPr algn="l">
              <a:defRPr/>
            </a:pPr>
            <a:r>
              <a:rPr sz="2600"/>
              <a:t>2. Appendix_1:</a:t>
            </a:r>
          </a:p>
          <a:p>
            <a:pPr algn="l">
              <a:defRPr/>
            </a:pPr>
            <a:r>
              <a:rPr sz="2600"/>
              <a:t>• Calculation taking into account a highly developed structure (not</a:t>
            </a:r>
            <a:r>
              <a:rPr lang="ru-RU" sz="2600"/>
              <a:t> </a:t>
            </a:r>
            <a:r>
              <a:rPr sz="2600"/>
              <a:t>as a smooth</a:t>
            </a:r>
            <a:r>
              <a:rPr lang="ru-RU" sz="2600"/>
              <a:t> </a:t>
            </a:r>
            <a:r>
              <a:rPr sz="2600"/>
              <a:t>surface)</a:t>
            </a:r>
          </a:p>
          <a:p>
            <a:pPr algn="l">
              <a:defRPr/>
            </a:pPr>
            <a:r>
              <a:rPr sz="2600"/>
              <a:t>• Calculation taking into account the influence of all ions in the system</a:t>
            </a:r>
          </a:p>
          <a:p>
            <a:pPr algn="l">
              <a:defRPr/>
            </a:pPr>
            <a:r>
              <a:rPr sz="2600"/>
              <a:t>• Taking into account the structure of EDL in porous electrodes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yser color palette">
      <a:dk1>
        <a:srgbClr val="000000"/>
      </a:dk1>
      <a:lt1>
        <a:srgbClr val="FFFFFF"/>
      </a:lt1>
      <a:dk2>
        <a:srgbClr val="686E73"/>
      </a:dk2>
      <a:lt2>
        <a:srgbClr val="9EA8B0"/>
      </a:lt2>
      <a:accent1>
        <a:srgbClr val="F9F9F9"/>
      </a:accent1>
      <a:accent2>
        <a:srgbClr val="00AAEE"/>
      </a:accent2>
      <a:accent3>
        <a:srgbClr val="1560BD"/>
      </a:accent3>
      <a:accent4>
        <a:srgbClr val="000000"/>
      </a:accent4>
      <a:accent5>
        <a:srgbClr val="9EA8B0"/>
      </a:accent5>
      <a:accent6>
        <a:srgbClr val="686E73"/>
      </a:accent6>
      <a:hlink>
        <a:srgbClr val="00AAEE"/>
      </a:hlink>
      <a:folHlink>
        <a:srgbClr val="CEFF0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2657</Words>
  <Application>Microsoft Office PowerPoint</Application>
  <PresentationFormat>Widescreen</PresentationFormat>
  <Paragraphs>512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Poppins</vt:lpstr>
      <vt:lpstr>Calibri</vt:lpstr>
      <vt:lpstr>Poppins Light</vt:lpstr>
      <vt:lpstr>Arial</vt:lpstr>
      <vt:lpstr>Poppins Medium</vt:lpstr>
      <vt:lpstr>Office Theme</vt:lpstr>
      <vt:lpstr>PowerPoint Presentation</vt:lpstr>
      <vt:lpstr>Contains</vt:lpstr>
      <vt:lpstr>Main reaction</vt:lpstr>
      <vt:lpstr>Input data</vt:lpstr>
      <vt:lpstr>Terminology</vt:lpstr>
      <vt:lpstr>Voltage/potential of cell/electrode and reaction</vt:lpstr>
      <vt:lpstr>Step 1: Start of charging</vt:lpstr>
      <vt:lpstr>Step 2: Formation of an electrical double layer (EDL)</vt:lpstr>
      <vt:lpstr>Step 3: Redox reactions. Positive electrode</vt:lpstr>
      <vt:lpstr>Step 3: Redox reactions. Positive electrode</vt:lpstr>
      <vt:lpstr>Step 3: Redox reactions. Positive electrode</vt:lpstr>
      <vt:lpstr>Step 3: Redox reactions. Positive electrode</vt:lpstr>
      <vt:lpstr>Step 3: Redox reactions. Positive electrode</vt:lpstr>
      <vt:lpstr>Step 3: Redox reactions. Negative electrode</vt:lpstr>
      <vt:lpstr>Step 3: Redox reactions. Negative electrode</vt:lpstr>
      <vt:lpstr>Step 3: Redox reactions. Negative electrode</vt:lpstr>
      <vt:lpstr>Step 4: Fully charged zinc-bromine battery</vt:lpstr>
      <vt:lpstr>Exceeding 1.83 V during charging will trigger parasitic reactions</vt:lpstr>
      <vt:lpstr>Exceeding 1.83 V during charging will trigger parasitic reactions</vt:lpstr>
      <vt:lpstr>Final charging sequence (by potentials)</vt:lpstr>
      <vt:lpstr>Calculation of parameters of zinc-bromine system in “battery mode”</vt:lpstr>
      <vt:lpstr>BM_Version 1. Qualitative calculation.</vt:lpstr>
      <vt:lpstr>BM_Version 2. Concentration impact.</vt:lpstr>
      <vt:lpstr>BM_Version 2. Concentration impact.Summary table.</vt:lpstr>
      <vt:lpstr>BM_Version 3. Impact of electrode surface area.</vt:lpstr>
      <vt:lpstr>BM_Version 3. Impact of electrode surface area.Summary table.</vt:lpstr>
      <vt:lpstr>Electrostatic Control in Zinc-Bromine Systems: Parameter Optimization via Electric Double Layer Effects</vt:lpstr>
      <vt:lpstr>Electrostatic Control in Zinc-Bromine Systems: Parameter Optimization via Electric Double Layer Effects</vt:lpstr>
      <vt:lpstr>Future work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Shigaev</dc:creator>
  <cp:lastModifiedBy>Margarita Mezhueva</cp:lastModifiedBy>
  <cp:revision>14</cp:revision>
  <dcterms:created xsi:type="dcterms:W3CDTF">2020-11-05T20:20:47Z</dcterms:created>
  <dcterms:modified xsi:type="dcterms:W3CDTF">2025-04-30T10:27:54Z</dcterms:modified>
</cp:coreProperties>
</file>